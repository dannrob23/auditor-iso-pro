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391" r:id="rId7"/>
    <p:sldId id="397" r:id="rId8"/>
    <p:sldId id="408" r:id="rId9"/>
    <p:sldId id="404" r:id="rId10"/>
    <p:sldId id="411" r:id="rId11"/>
    <p:sldId id="398" r:id="rId1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29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notesMaster" Target="notesMasters/notesMaster1.xml" /><Relationship Id="rId18" Type="http://schemas.openxmlformats.org/officeDocument/2006/relationships/theme" Target="theme/theme1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viewProps" Target="viewProps.xml" /><Relationship Id="rId2" Type="http://schemas.openxmlformats.org/officeDocument/2006/relationships/customXml" Target="../customXml/item2.xml" /><Relationship Id="rId16" Type="http://schemas.openxmlformats.org/officeDocument/2006/relationships/presProps" Target="presProps.xml" /><Relationship Id="rId20" Type="http://schemas.microsoft.com/office/2018/10/relationships/authors" Target="author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commentAuthors" Target="commentAuthors.xml" /><Relationship Id="rId10" Type="http://schemas.openxmlformats.org/officeDocument/2006/relationships/slide" Target="slides/slide6.xml" /><Relationship Id="rId19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handoutMaster" Target="handoutMasters/handout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09/05/2026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09/05/2026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6028/NIST.CSWP.29" TargetMode="External" /><Relationship Id="rId2" Type="http://schemas.openxmlformats.org/officeDocument/2006/relationships/hyperlink" Target="https://www.nist.gov/cyberframework" TargetMode="External" /><Relationship Id="rId1" Type="http://schemas.openxmlformats.org/officeDocument/2006/relationships/slideLayout" Target="../slideLayouts/slideLayout11.xml" /><Relationship Id="rId4" Type="http://schemas.openxmlformats.org/officeDocument/2006/relationships/hyperlink" Target="https://nvlpubs.nist.gov/nistpubs/CSWP/NIST.CSWP.29.pdf" TargetMode="Externa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5280" y="411479"/>
            <a:ext cx="7371024" cy="329184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n-US" b="0" dirty="0"/>
              <a:t>NIST Cybersecurity Framework (CSF) 2.0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85B2726-589F-A6BD-C65B-A9E33A2D8208}"/>
              </a:ext>
            </a:extLst>
          </p:cNvPr>
          <p:cNvSpPr txBox="1"/>
          <p:nvPr/>
        </p:nvSpPr>
        <p:spPr>
          <a:xfrm>
            <a:off x="6590581" y="4641011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Gestión de riesgos de ciberseguridad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¿Qué es NIST CSF 2.0?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7540984" cy="4007419"/>
          </a:xfrm>
        </p:spPr>
        <p:txBody>
          <a:bodyPr tIns="457200" rtlCol="0"/>
          <a:lstStyle>
            <a:defPPr>
              <a:defRPr lang="es-ES"/>
            </a:defPPr>
          </a:lstStyle>
          <a:p>
            <a:r>
              <a:rPr lang="es-ES" b="0" dirty="0"/>
              <a:t>Marco de ciberseguridad del </a:t>
            </a:r>
            <a:r>
              <a:rPr lang="es-ES" dirty="0"/>
              <a:t>NIST</a:t>
            </a:r>
            <a:r>
              <a:rPr lang="es-ES" b="0" dirty="0"/>
              <a:t> (Instituto Nacional de Estándares y Tecnología de EE. UU.)</a:t>
            </a:r>
          </a:p>
          <a:p>
            <a:r>
              <a:rPr lang="es-ES" b="0" dirty="0"/>
              <a:t>Voluntario, basado en riesgos y ampliamente adoptado</a:t>
            </a:r>
          </a:p>
          <a:p>
            <a:r>
              <a:rPr lang="es-ES" b="0" dirty="0"/>
              <a:t>Versión 2.0 (2024): amplía el alcance a </a:t>
            </a:r>
            <a:r>
              <a:rPr lang="es-ES" dirty="0"/>
              <a:t>todo tipo de organizaciones</a:t>
            </a:r>
            <a:endParaRPr lang="es-ES" b="0" dirty="0"/>
          </a:p>
          <a:p>
            <a:r>
              <a:rPr lang="es-ES" b="0" dirty="0"/>
              <a:t>Ayuda a </a:t>
            </a:r>
            <a:r>
              <a:rPr lang="es-ES" dirty="0"/>
              <a:t>priorizar</a:t>
            </a:r>
            <a:r>
              <a:rPr lang="es-ES" b="0" dirty="0"/>
              <a:t> inversiones en seguridad</a:t>
            </a:r>
          </a:p>
          <a:p>
            <a:pPr marL="0" indent="0" rtl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Los 6 pilares (Funciones Core)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39744" y="2675149"/>
            <a:ext cx="6278544" cy="3741402"/>
          </a:xfrm>
        </p:spPr>
        <p:txBody>
          <a:bodyPr rtlCol="0">
            <a:normAutofit fontScale="92500" lnSpcReduction="20000"/>
          </a:bodyPr>
          <a:lstStyle>
            <a:defPPr>
              <a:defRPr lang="es-ES"/>
            </a:defPPr>
          </a:lstStyle>
          <a:p>
            <a:r>
              <a:rPr lang="es-CO" b="1" dirty="0"/>
              <a:t>Gobernar (Govern)</a:t>
            </a:r>
            <a:r>
              <a:rPr lang="es-CO" dirty="0"/>
              <a:t> – nuevo pilar principal</a:t>
            </a:r>
          </a:p>
          <a:p>
            <a:r>
              <a:rPr lang="es-CO" b="1" dirty="0"/>
              <a:t>Identificar (</a:t>
            </a:r>
            <a:r>
              <a:rPr lang="es-CO" b="1" dirty="0" err="1"/>
              <a:t>Identify</a:t>
            </a:r>
            <a:r>
              <a:rPr lang="es-CO" b="1" dirty="0"/>
              <a:t>)</a:t>
            </a:r>
            <a:r>
              <a:rPr lang="es-CO" dirty="0"/>
              <a:t> – activos, riesgos, proveedores</a:t>
            </a:r>
          </a:p>
          <a:p>
            <a:r>
              <a:rPr lang="es-CO" b="1" dirty="0"/>
              <a:t>Proteger (</a:t>
            </a:r>
            <a:r>
              <a:rPr lang="es-CO" b="1" dirty="0" err="1"/>
              <a:t>Protect</a:t>
            </a:r>
            <a:r>
              <a:rPr lang="es-CO" b="1" dirty="0"/>
              <a:t>)</a:t>
            </a:r>
            <a:r>
              <a:rPr lang="es-CO" dirty="0"/>
              <a:t> – controles de acceso, datos, formación</a:t>
            </a:r>
          </a:p>
          <a:p>
            <a:r>
              <a:rPr lang="es-CO" b="1" dirty="0"/>
              <a:t>Detectar (</a:t>
            </a:r>
            <a:r>
              <a:rPr lang="es-CO" b="1" dirty="0" err="1"/>
              <a:t>Detect</a:t>
            </a:r>
            <a:r>
              <a:rPr lang="es-CO" b="1" dirty="0"/>
              <a:t>)</a:t>
            </a:r>
            <a:r>
              <a:rPr lang="es-CO" dirty="0"/>
              <a:t> – monitoreo continuo, anomalías</a:t>
            </a:r>
          </a:p>
          <a:p>
            <a:r>
              <a:rPr lang="es-CO" b="1" dirty="0"/>
              <a:t>Responder (</a:t>
            </a:r>
            <a:r>
              <a:rPr lang="es-CO" b="1" dirty="0" err="1"/>
              <a:t>Respond</a:t>
            </a:r>
            <a:r>
              <a:rPr lang="es-CO" b="1" dirty="0"/>
              <a:t>)</a:t>
            </a:r>
            <a:r>
              <a:rPr lang="es-CO" dirty="0"/>
              <a:t> – plan de respuesta, comunicación</a:t>
            </a:r>
          </a:p>
          <a:p>
            <a:r>
              <a:rPr lang="es-CO" b="1" dirty="0"/>
              <a:t>Recuperar (</a:t>
            </a:r>
            <a:r>
              <a:rPr lang="es-CO" b="1" dirty="0" err="1"/>
              <a:t>Recover</a:t>
            </a:r>
            <a:r>
              <a:rPr lang="es-CO" b="1" dirty="0"/>
              <a:t>)</a:t>
            </a:r>
            <a:r>
              <a:rPr lang="es-CO" dirty="0"/>
              <a:t> – </a:t>
            </a:r>
            <a:r>
              <a:rPr lang="es-CO" dirty="0" err="1"/>
              <a:t>backup</a:t>
            </a:r>
            <a:r>
              <a:rPr lang="es-CO" dirty="0"/>
              <a:t>, restauración, lecciones</a:t>
            </a:r>
            <a:endParaRPr lang="es-ES" dirty="0"/>
          </a:p>
          <a:p>
            <a:pPr marL="0" indent="0" rtl="0">
              <a:buNone/>
            </a:pPr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79B18BE8-B443-793B-0A55-5FB20C1A6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12" y="2675149"/>
            <a:ext cx="5166032" cy="342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3599" y="563894"/>
            <a:ext cx="8354364" cy="1895121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O" dirty="0"/>
              <a:t>Gobernanza (Govern): La novedad estrella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9709" y="4141057"/>
            <a:ext cx="6499686" cy="1645920"/>
          </a:xfrm>
        </p:spPr>
        <p:txBody>
          <a:bodyPr rtlCol="0">
            <a:normAutofit fontScale="77500" lnSpcReduction="20000"/>
          </a:bodyPr>
          <a:lstStyle>
            <a:defPPr>
              <a:defRPr lang="es-ES"/>
            </a:defPPr>
          </a:lstStyle>
          <a:p>
            <a:r>
              <a:rPr lang="es-ES" dirty="0"/>
              <a:t>Govern</a:t>
            </a:r>
            <a:r>
              <a:rPr lang="es-ES" b="0" dirty="0"/>
              <a:t> ahora es el eje central (no un complemento)</a:t>
            </a:r>
          </a:p>
          <a:p>
            <a:r>
              <a:rPr lang="es-ES" b="0" dirty="0"/>
              <a:t>Establece </a:t>
            </a:r>
            <a:r>
              <a:rPr lang="es-ES" dirty="0"/>
              <a:t>roles, responsabilidades y supervisión</a:t>
            </a:r>
            <a:r>
              <a:rPr lang="es-ES" b="0" dirty="0"/>
              <a:t> desde la alta dirección</a:t>
            </a:r>
          </a:p>
          <a:p>
            <a:r>
              <a:rPr lang="es-ES" b="0" dirty="0"/>
              <a:t>Integra la ciberseguridad con la estrategia de negocio y el cumplimiento legal</a:t>
            </a:r>
          </a:p>
          <a:p>
            <a:r>
              <a:rPr lang="es-ES" b="0" dirty="0"/>
              <a:t>Clave para gestionar riesgos de </a:t>
            </a:r>
            <a:r>
              <a:rPr lang="es-ES" dirty="0"/>
              <a:t>terceros y cadena de suministro</a:t>
            </a:r>
            <a:endParaRPr lang="es-ES" b="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DC63B9F-18CA-EA84-660B-322FCB1A8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49" y="2459015"/>
            <a:ext cx="4243312" cy="395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Perfiles y niveles: Implementación a tu medida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0350E9-2EE7-76A1-9913-51091F920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542" y="3162999"/>
            <a:ext cx="6299516" cy="310237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67899"/>
            <a:ext cx="9093104" cy="359747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1" dirty="0"/>
              <a:t>Perfil actual</a:t>
            </a:r>
            <a:r>
              <a:rPr lang="es-ES" dirty="0"/>
              <a:t> → dónde estás hoy</a:t>
            </a:r>
          </a:p>
          <a:p>
            <a:r>
              <a:rPr lang="es-ES" b="1" dirty="0"/>
              <a:t>Perfil objetivo</a:t>
            </a:r>
            <a:r>
              <a:rPr lang="es-ES" dirty="0"/>
              <a:t> → dónde quieres estar (alineado con negocio)</a:t>
            </a:r>
          </a:p>
          <a:p>
            <a:r>
              <a:rPr lang="es-ES" b="1" dirty="0"/>
              <a:t>Niveles</a:t>
            </a:r>
            <a:r>
              <a:rPr lang="es-ES" dirty="0"/>
              <a:t> (Parcial, Informado, Repetible, Adaptativo):</a:t>
            </a:r>
          </a:p>
          <a:p>
            <a:pPr lvl="1"/>
            <a:r>
              <a:rPr lang="es-ES" dirty="0"/>
              <a:t>No son madurez obligatoria, sino </a:t>
            </a:r>
            <a:r>
              <a:rPr lang="es-ES" b="1" dirty="0"/>
              <a:t>contexto de riesgo</a:t>
            </a:r>
            <a:endParaRPr lang="es-ES" dirty="0"/>
          </a:p>
          <a:p>
            <a:pPr lvl="1"/>
            <a:r>
              <a:rPr lang="es-ES" dirty="0"/>
              <a:t>Ayudan a priorizar inversiones realistas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Acción inmediata con CSF 2.0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5409" y="2198923"/>
            <a:ext cx="7746220" cy="359747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b="1" dirty="0"/>
              <a:t>Designa un dueño</a:t>
            </a:r>
            <a:r>
              <a:rPr lang="es-ES" dirty="0"/>
              <a:t> del marco (CISO / riesgo / cumplimiento)</a:t>
            </a:r>
          </a:p>
          <a:p>
            <a:r>
              <a:rPr lang="es-ES" b="1" dirty="0"/>
              <a:t>Mapea activos críticos</a:t>
            </a:r>
            <a:r>
              <a:rPr lang="es-ES" dirty="0"/>
              <a:t> y proveedores clave</a:t>
            </a:r>
          </a:p>
          <a:p>
            <a:r>
              <a:rPr lang="es-ES" b="1" dirty="0"/>
              <a:t>Evalúa brechas</a:t>
            </a:r>
            <a:r>
              <a:rPr lang="es-ES" dirty="0"/>
              <a:t> usando las 6 funciones (especialmente Govern)</a:t>
            </a:r>
          </a:p>
          <a:p>
            <a:r>
              <a:rPr lang="es-ES" b="1" dirty="0"/>
              <a:t>Crea un plan de 90 días</a:t>
            </a:r>
            <a:r>
              <a:rPr lang="es-ES" dirty="0"/>
              <a:t> (3 acciones de alto impacto)</a:t>
            </a:r>
          </a:p>
          <a:p>
            <a:r>
              <a:rPr lang="es-ES" b="1" dirty="0"/>
              <a:t>Revisa trimestralmente</a:t>
            </a:r>
            <a:r>
              <a:rPr lang="es-ES" dirty="0"/>
              <a:t> el perfil objetivo</a:t>
            </a:r>
          </a:p>
          <a:p>
            <a:br>
              <a:rPr lang="es-ES" dirty="0"/>
            </a:b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91E99B-5495-EBD7-28CF-236856C14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295" y="3818884"/>
            <a:ext cx="5850705" cy="30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D54E4-D086-AE06-74FE-E28A62C1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Fuentes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3BBD23-2ED2-280F-CC9D-74BBC51A13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10360024" cy="3597470"/>
          </a:xfrm>
        </p:spPr>
        <p:txBody>
          <a:bodyPr/>
          <a:lstStyle/>
          <a:p>
            <a:r>
              <a:rPr lang="es-CO" dirty="0"/>
              <a:t>Fuente NIST CSF 2.</a:t>
            </a:r>
            <a:r>
              <a:rPr lang="en-US" dirty="0"/>
              <a:t>0</a:t>
            </a:r>
          </a:p>
          <a:p>
            <a:r>
              <a:rPr lang="es-CO" dirty="0" err="1"/>
              <a:t>The</a:t>
            </a:r>
            <a:r>
              <a:rPr lang="es-CO" dirty="0"/>
              <a:t> NIST </a:t>
            </a:r>
            <a:r>
              <a:rPr lang="es-CO" dirty="0" err="1"/>
              <a:t>Cybersecurity</a:t>
            </a:r>
            <a:r>
              <a:rPr lang="es-CO" dirty="0"/>
              <a:t> Framework (CSF) 2.0 – NIST CSWP 29 (</a:t>
            </a:r>
            <a:r>
              <a:rPr lang="es-CO" dirty="0" err="1"/>
              <a:t>February</a:t>
            </a:r>
            <a:r>
              <a:rPr lang="es-CO" dirty="0"/>
              <a:t> 2024) </a:t>
            </a:r>
          </a:p>
          <a:p>
            <a:r>
              <a:rPr lang="es-CO" dirty="0">
                <a:hlinkClick r:id="rId2"/>
              </a:rPr>
              <a:t>https://www.nist.gov/cyberframewor</a:t>
            </a:r>
            <a:r>
              <a:rPr lang="en-US" dirty="0">
                <a:hlinkClick r:id="rId2"/>
              </a:rPr>
              <a:t>k</a:t>
            </a:r>
            <a:endParaRPr lang="en-US" dirty="0"/>
          </a:p>
          <a:p>
            <a:r>
              <a:rPr lang="es-CO" dirty="0">
                <a:hlinkClick r:id="rId3"/>
              </a:rPr>
              <a:t>https://doi.org/10.6028/NIST.CSWP.29</a:t>
            </a:r>
            <a:endParaRPr lang="en-US" dirty="0"/>
          </a:p>
          <a:p>
            <a:r>
              <a:rPr lang="en-US" dirty="0">
                <a:hlinkClick r:id="rId4"/>
              </a:rPr>
              <a:t>https://nvlpubs.nist.gov/nistpubs/CSWP/NIST.CSWP.29.pdf</a:t>
            </a:r>
            <a:endParaRPr lang="en-U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06743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Gracias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Esteban Santana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www.w3.org/2000/xmlns/"/>
    <ds:schemaRef ds:uri="71af3243-3dd4-4a8d-8c0d-dd76da1f02a5"/>
    <ds:schemaRef ds:uri="http://schemas.microsoft.com/sharepoint/v3"/>
    <ds:schemaRef ds:uri="http://www.w3.org/2001/XMLSchema-instance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{C57138B7-953B-40D8-9A81-421587890B2E}TFd3b75063-ff25-434d-b12c-efeaf07d16c3e7f35a69_win32-0d75b5563924</Template>
  <TotalTime>9</TotalTime>
  <Words>348</Words>
  <Application>Microsoft Office PowerPoint</Application>
  <PresentationFormat>Panorámica</PresentationFormat>
  <Paragraphs>47</Paragraphs>
  <Slides>8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Personalizar</vt:lpstr>
      <vt:lpstr>NIST Cybersecurity Framework (CSF) 2.0</vt:lpstr>
      <vt:lpstr>¿Qué es NIST CSF 2.0?</vt:lpstr>
      <vt:lpstr>Los 6 pilares (Funciones Core)</vt:lpstr>
      <vt:lpstr>Gobernanza (Govern): La novedad estrella</vt:lpstr>
      <vt:lpstr>Perfiles y niveles: Implementación a tu medida</vt:lpstr>
      <vt:lpstr>Acción inmediata con CSF 2.0</vt:lpstr>
      <vt:lpstr>Fuentes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NIST Cybersecurity Framework (CSF) 2.0</dc:title>
  <dc:creator>Esteban Yesid Santana Vargas</dc:creator>
  <cp:lastModifiedBy>Esteban Yesid Santana Vargas</cp:lastModifiedBy>
  <cp:revision>6</cp:revision>
  <dcterms:created xsi:type="dcterms:W3CDTF">2026-05-08T23:43:59Z</dcterms:created>
  <dcterms:modified xsi:type="dcterms:W3CDTF">2026-05-09T13:34:49Z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