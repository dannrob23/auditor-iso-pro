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0" r:id="rId4"/>
    <p:sldId id="258" r:id="rId5"/>
    <p:sldId id="273" r:id="rId6"/>
    <p:sldId id="261" r:id="rId7"/>
    <p:sldId id="259" r:id="rId8"/>
    <p:sldId id="262" r:id="rId9"/>
    <p:sldId id="263" r:id="rId10"/>
    <p:sldId id="264" r:id="rId11"/>
    <p:sldId id="267" r:id="rId12"/>
    <p:sldId id="268" r:id="rId13"/>
    <p:sldId id="272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1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351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95670-61EA-101C-FF0A-554E31CF5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20467-D399-E889-31D2-78EAF41F9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235A2-1233-90FA-2F9A-A8F4E3396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772E4-2D94-C3C7-A352-2AAD41EB4F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702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Card Industry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Standard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5612" y="1793965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PCI DSS y por qué existe?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411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848099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evolución — de v3.2.1 a v4.0.1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411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11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65760" y="32461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32004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419" sz="1300" dirty="0">
                <a:latin typeface="+mj-lt"/>
              </a:rPr>
              <a:t>Ecosistema de pagos</a:t>
            </a:r>
            <a:endParaRPr lang="en-US" sz="1300" dirty="0">
              <a:latin typeface="+mj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411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65760" y="39319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27037" y="2497183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12 Requerimientos actualizados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411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46320" y="11887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21808" y="312637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/>
              <a:t>Documentos</a:t>
            </a:r>
            <a:r>
              <a:rPr lang="en-US" sz="1300" dirty="0"/>
              <a:t> de </a:t>
            </a:r>
            <a:r>
              <a:rPr lang="en-US" sz="1300" dirty="0" err="1"/>
              <a:t>cumplimiento</a:t>
            </a:r>
            <a:r>
              <a:rPr lang="en-US" sz="1300" dirty="0"/>
              <a:t> PCD DSS V4.0.1</a:t>
            </a:r>
          </a:p>
        </p:txBody>
      </p:sp>
      <p:sp>
        <p:nvSpPr>
          <p:cNvPr id="22" name="Shape 20"/>
          <p:cNvSpPr/>
          <p:nvPr/>
        </p:nvSpPr>
        <p:spPr>
          <a:xfrm>
            <a:off x="4846320" y="1874520"/>
            <a:ext cx="411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46320" y="18745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560320"/>
            <a:ext cx="411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846320" y="25603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246120"/>
            <a:ext cx="411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846320" y="32461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27037" y="3848099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/>
              <a:t>Fases</a:t>
            </a:r>
            <a:r>
              <a:rPr lang="en-US" sz="1300" dirty="0"/>
              <a:t> del Proyecto de </a:t>
            </a:r>
            <a:r>
              <a:rPr lang="en-US" sz="1300" dirty="0" err="1"/>
              <a:t>Certificación</a:t>
            </a:r>
            <a:endParaRPr lang="en-US" sz="130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F0DC99C9-62DF-E587-8F66-91ED3B2FCB0E}"/>
              </a:ext>
            </a:extLst>
          </p:cNvPr>
          <p:cNvSpPr/>
          <p:nvPr/>
        </p:nvSpPr>
        <p:spPr>
          <a:xfrm>
            <a:off x="841248" y="1125583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Ecosistemas PCI SSC</a:t>
            </a:r>
            <a:endParaRPr lang="en-US" sz="13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4AA22A63-E8BA-693D-4AF3-07A56BCA1D2F}"/>
              </a:ext>
            </a:extLst>
          </p:cNvPr>
          <p:cNvSpPr/>
          <p:nvPr/>
        </p:nvSpPr>
        <p:spPr>
          <a:xfrm>
            <a:off x="882396" y="253201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O" sz="1300" dirty="0"/>
              <a:t>Medios o canales de captura/procesamiento de datos de tarjetas de crédito o débito</a:t>
            </a:r>
            <a:endParaRPr lang="en-US" sz="1300" dirty="0"/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655B1E4A-2F48-2BF9-F801-F345A3DDD111}"/>
              </a:ext>
            </a:extLst>
          </p:cNvPr>
          <p:cNvSpPr/>
          <p:nvPr/>
        </p:nvSpPr>
        <p:spPr>
          <a:xfrm>
            <a:off x="5321808" y="10744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</a:t>
            </a: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30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07E53864-6F06-7EA6-18C3-AFD4D88B4730}"/>
              </a:ext>
            </a:extLst>
          </p:cNvPr>
          <p:cNvSpPr/>
          <p:nvPr/>
        </p:nvSpPr>
        <p:spPr>
          <a:xfrm>
            <a:off x="5321808" y="1759131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(Scoping)</a:t>
            </a:r>
            <a:endParaRPr lang="en-US" sz="1300" dirty="0"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1E61560A-45B6-34B3-C624-6EFCB3C54A53}"/>
              </a:ext>
            </a:extLst>
          </p:cNvPr>
          <p:cNvSpPr/>
          <p:nvPr/>
        </p:nvSpPr>
        <p:spPr>
          <a:xfrm>
            <a:off x="4841748" y="3926477"/>
            <a:ext cx="411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r>
              <a:rPr lang="es-MX" sz="1300" b="1" dirty="0">
                <a:solidFill>
                  <a:schemeClr val="bg1"/>
                </a:solidFill>
              </a:rPr>
              <a:t>10</a:t>
            </a:r>
            <a:endParaRPr lang="es-CO" sz="13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23153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" name="Text 1"/>
          <p:cNvSpPr/>
          <p:nvPr/>
        </p:nvSpPr>
        <p:spPr>
          <a:xfrm>
            <a:off x="339634" y="-113539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FFFFFF"/>
                </a:solidFill>
              </a:rPr>
              <a:t>1. ECOSISTEMA DE ESTÁNDARES PCI SSC</a:t>
            </a:r>
          </a:p>
        </p:txBody>
      </p:sp>
      <p:sp>
        <p:nvSpPr>
          <p:cNvPr id="4" name="Shape 2"/>
          <p:cNvSpPr/>
          <p:nvPr/>
        </p:nvSpPr>
        <p:spPr>
          <a:xfrm>
            <a:off x="274320" y="1247487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1247487"/>
            <a:ext cx="420624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65760" y="1247487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🏢 PCI DSS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77839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</a:rPr>
              <a:t>Data Security Standard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116167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Aplica a: Empresas y proveedores de servicio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454495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Protege los datos del titular de la tarjeta en el entorno de procesamiento de pagos.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47487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709160" y="1247487"/>
            <a:ext cx="420624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00600" y="1247487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💻 PCI SSF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1777839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</a:rPr>
              <a:t>Software Security Framework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2116167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Aplica a: Aplicaciones de pago (software)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2454495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Certifica que una aplicación de pago fue desarrollada de forma segura. PA-DSS reemplazado por PCI SSF.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259167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74320" y="3259167"/>
            <a:ext cx="420624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65760" y="3259167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💳 PCI PTS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" y="3789519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</a:rPr>
              <a:t>Pin Transaction Security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127847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</a:rPr>
              <a:t>Aplica a: </a:t>
            </a:r>
            <a:r>
              <a:rPr lang="en-US" sz="1000" b="1" dirty="0" err="1">
                <a:solidFill>
                  <a:srgbClr val="E65100"/>
                </a:solidFill>
              </a:rPr>
              <a:t>Dispositivos</a:t>
            </a:r>
            <a:r>
              <a:rPr lang="en-US" sz="1000" b="1" dirty="0">
                <a:solidFill>
                  <a:srgbClr val="E65100"/>
                </a:solidFill>
              </a:rPr>
              <a:t> </a:t>
            </a:r>
            <a:r>
              <a:rPr lang="en-US" sz="1000" b="1" dirty="0" err="1">
                <a:solidFill>
                  <a:srgbClr val="E65100"/>
                </a:solidFill>
              </a:rPr>
              <a:t>físicos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466175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Asegura que los dispositivos que capturan el PIN son seguros y resistentes a manipulación.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259167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709160" y="3259167"/>
            <a:ext cx="4206240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800600" y="3259167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🔐 PCI 3DS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00600" y="3789519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</a:rPr>
              <a:t>3D Secure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4127847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1B9A"/>
                </a:solidFill>
              </a:rPr>
              <a:t>Aplica a: Proveedores de autenticación 3DS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4466175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</a:rPr>
              <a:t>Estándar para servidores de control de acceso 3DS, directorio y autenticación.</a:t>
            </a:r>
            <a:endParaRPr lang="en-US" sz="10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E8C45DD-657A-B0EA-8766-2352C1CB1633}"/>
              </a:ext>
            </a:extLst>
          </p:cNvPr>
          <p:cNvSpPr txBox="1"/>
          <p:nvPr/>
        </p:nvSpPr>
        <p:spPr>
          <a:xfrm>
            <a:off x="228600" y="749265"/>
            <a:ext cx="8804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900" dirty="0"/>
              <a:t>El </a:t>
            </a:r>
            <a:r>
              <a:rPr lang="es-MX" sz="900" b="1" dirty="0"/>
              <a:t>ecosistema de estándares del PCI SSC</a:t>
            </a:r>
            <a:r>
              <a:rPr lang="es-MX" sz="900" dirty="0"/>
              <a:t> es un conjunto integral de normas de seguridad diseñadas para proteger los datos de tarjetas de pago durante todo su ciclo de vida. Gestionado por el PCI Security </a:t>
            </a:r>
            <a:r>
              <a:rPr lang="es-MX" sz="900" dirty="0" err="1"/>
              <a:t>Standards</a:t>
            </a:r>
            <a:r>
              <a:rPr lang="es-MX" sz="900" dirty="0"/>
              <a:t> Council, El Consejo fue fundado y está integrado por las principales marcas de pago internacionales, American Express, </a:t>
            </a:r>
            <a:r>
              <a:rPr lang="es-MX" sz="900" dirty="0" err="1"/>
              <a:t>Discover</a:t>
            </a:r>
            <a:r>
              <a:rPr lang="es-MX" sz="900" dirty="0"/>
              <a:t> </a:t>
            </a:r>
            <a:r>
              <a:rPr lang="es-MX" sz="900" dirty="0" err="1"/>
              <a:t>Financial</a:t>
            </a:r>
            <a:r>
              <a:rPr lang="es-MX" sz="900" dirty="0"/>
              <a:t> </a:t>
            </a:r>
            <a:r>
              <a:rPr lang="es-MX" sz="900" dirty="0" err="1"/>
              <a:t>Services</a:t>
            </a:r>
            <a:r>
              <a:rPr lang="es-MX" sz="900" dirty="0"/>
              <a:t>, JCB International, MasterCard, Visa Inc. </a:t>
            </a:r>
            <a:r>
              <a:rPr lang="es-MX" sz="900" dirty="0" err="1"/>
              <a:t>UnionPay</a:t>
            </a:r>
            <a:endParaRPr lang="es-MX" sz="900" dirty="0"/>
          </a:p>
          <a:p>
            <a:endParaRPr lang="en-US" sz="900" dirty="0"/>
          </a:p>
          <a:p>
            <a:endParaRPr lang="es-CO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 ¿QUÉ ES PCI DSS?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97808" y="96012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1050" dirty="0">
                <a:solidFill>
                  <a:schemeClr val="bg1"/>
                </a:solidFill>
              </a:rPr>
              <a:t>Es un estándar de seguridad publicado por el PCI SSC y orientado a la definición de controles para la protección de los datos del titular de la tarjeta y datos sensibles de autenticación durante su procesamiento, almacenamiento y/o transmisión </a:t>
            </a:r>
          </a:p>
          <a:p>
            <a:pPr algn="ctr"/>
            <a:endParaRPr lang="es-ES" sz="1050" dirty="0">
              <a:solidFill>
                <a:schemeClr val="bg1"/>
              </a:solidFill>
            </a:endParaRPr>
          </a:p>
          <a:p>
            <a:pPr algn="ctr"/>
            <a:r>
              <a:rPr lang="es-ES" sz="1050" dirty="0">
                <a:solidFill>
                  <a:schemeClr val="bg1"/>
                </a:solidFill>
              </a:rPr>
              <a:t>¿Por que existe? </a:t>
            </a:r>
            <a:r>
              <a:rPr lang="es-MX" sz="1050" dirty="0">
                <a:solidFill>
                  <a:schemeClr val="bg1"/>
                </a:solidFill>
              </a:rPr>
              <a:t>Se desarrolló para fomentar y mejorar la seguridad de los datos de las cuentas de tarjetas de pago y facilitar la adopción generalizada de medidas de seguridad de datos uniformes a nivel mundial ante una respuesta directa al aumento de robos de datos y al fraude en el comercio electrónico, con el objetivo de proteger la información de los titulares de tarjetas en todo el mundo. 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FEC4842-42E5-5242-9BB0-8CBA950E0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52" y="2296158"/>
            <a:ext cx="6826598" cy="25545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7CB52C-166B-0029-3BBB-FE17544F7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E4E164-B2DE-58DC-0A53-7EED54705022}"/>
              </a:ext>
            </a:extLst>
          </p:cNvPr>
          <p:cNvSpPr/>
          <p:nvPr/>
        </p:nvSpPr>
        <p:spPr>
          <a:xfrm>
            <a:off x="6531" y="-9771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F40AEF-1C7E-BDB9-AD4E-43ADE707B6D9}"/>
              </a:ext>
            </a:extLst>
          </p:cNvPr>
          <p:cNvSpPr/>
          <p:nvPr/>
        </p:nvSpPr>
        <p:spPr>
          <a:xfrm>
            <a:off x="365759" y="0"/>
            <a:ext cx="854310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O" dirty="0">
                <a:solidFill>
                  <a:schemeClr val="bg1"/>
                </a:solidFill>
              </a:rPr>
              <a:t>3. Medios o canales de captura/procesamiento de datos de tarjetas de crédito o débito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C508768-FFB8-3DF0-AC8F-08A9F1AFA89D}"/>
              </a:ext>
            </a:extLst>
          </p:cNvPr>
          <p:cNvSpPr/>
          <p:nvPr/>
        </p:nvSpPr>
        <p:spPr>
          <a:xfrm>
            <a:off x="457200" y="109728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A4BB874-7783-C7FE-5A49-26CBB3B66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01" y="1736990"/>
            <a:ext cx="1296099" cy="137234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C529260-CDF0-E211-1B0A-DE0CDC4AB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8852" y="1736990"/>
            <a:ext cx="1362174" cy="137234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3DC6441-4CB9-0DE4-6626-0F1DD894DD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578" y="1549119"/>
            <a:ext cx="843080" cy="1748082"/>
          </a:xfrm>
          <a:prstGeom prst="rect">
            <a:avLst/>
          </a:prstGeom>
        </p:spPr>
      </p:pic>
      <p:pic>
        <p:nvPicPr>
          <p:cNvPr id="12" name="Imagen 11" descr="Concepto De Pagos En Línea De Vector De Pago Portátil Montón De Facturas En  Línea Compras En Portátil Aislado Ilustración De Dibujos Animados Plana PNG  ,dibujos Pago, Transacción, Shop PNG y Vector">
            <a:extLst>
              <a:ext uri="{FF2B5EF4-FFF2-40B4-BE49-F238E27FC236}">
                <a16:creationId xmlns:a16="http://schemas.microsoft.com/office/drawing/2014/main" id="{237199E4-B671-5300-B519-4F93C7C668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4679" y="1923700"/>
            <a:ext cx="1296099" cy="1296099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1DD7A-BAE0-7D82-D453-880B8DE90E83}"/>
              </a:ext>
            </a:extLst>
          </p:cNvPr>
          <p:cNvSpPr/>
          <p:nvPr/>
        </p:nvSpPr>
        <p:spPr>
          <a:xfrm>
            <a:off x="6394679" y="1549119"/>
            <a:ext cx="1296099" cy="3745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/>
                </a:solidFill>
              </a:rPr>
              <a:t>web</a:t>
            </a:r>
            <a:endParaRPr lang="es-CO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452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-1248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 </a:t>
            </a:r>
            <a:r>
              <a:rPr lang="es-419" sz="2200" b="1" dirty="0">
                <a:solidFill>
                  <a:srgbClr val="FFFFFF"/>
                </a:solidFill>
              </a:rPr>
              <a:t>Ecosistema de Pagos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Datos del Titular (CHD)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09928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76656" y="16642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</a:rPr>
              <a:t>PAN (Número de cuenta principal)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76656" y="21214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</a:rPr>
              <a:t>Nombre del titular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24328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76656" y="25786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</a:rPr>
              <a:t>Fecha de expiración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81528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76656" y="30358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</a:rPr>
              <a:t>Código de servicio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657600"/>
            <a:ext cx="38404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 rot="5691261" flipV="1">
            <a:off x="2217158" y="2770807"/>
            <a:ext cx="1459257" cy="3283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</a:rPr>
              <a:t>El PAN debe estar cifrado si se almacena. Los 6 primeros + 4 últimos dígitos no se consideran datos completos.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08576" y="105156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1148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754880" y="1051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🚫 Datos Sensibles de Autenticación (SAD)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709928"/>
            <a:ext cx="137160" cy="1371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065776" y="16642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</a:rPr>
              <a:t>Datos completos de la banda magnética / chip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167128"/>
            <a:ext cx="137160" cy="1371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065776" y="21214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</a:rPr>
              <a:t>CAV2 / CVC2 / CVV2 / CID (código de seguridad)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624328"/>
            <a:ext cx="137160" cy="1371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065776" y="25786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</a:rPr>
              <a:t>NIP / Bloques de NIP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3081528"/>
            <a:ext cx="137160" cy="1371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065776" y="30358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</a:rPr>
              <a:t>Credenciales de autenticación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3657600"/>
            <a:ext cx="38404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864608" y="3675888"/>
            <a:ext cx="37307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</a:rPr>
              <a:t>NUNCA se pueden almacenar después de la autorización, incluso cifrados.</a:t>
            </a:r>
            <a:endParaRPr lang="en-US" sz="1000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E75E1CA0-A14C-9E59-BF41-5DFEF949C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25" y="1034130"/>
            <a:ext cx="8731455" cy="40033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5. HISTORIA Y EVOLUCIÓN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43075"/>
            <a:ext cx="82296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 sz="900"/>
          </a:p>
        </p:txBody>
      </p:sp>
      <p:sp>
        <p:nvSpPr>
          <p:cNvPr id="5" name="Shape 3"/>
          <p:cNvSpPr/>
          <p:nvPr/>
        </p:nvSpPr>
        <p:spPr>
          <a:xfrm>
            <a:off x="347472" y="1643253"/>
            <a:ext cx="237744" cy="237744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CO" sz="900"/>
          </a:p>
        </p:txBody>
      </p:sp>
      <p:sp>
        <p:nvSpPr>
          <p:cNvPr id="6" name="Text 4"/>
          <p:cNvSpPr/>
          <p:nvPr/>
        </p:nvSpPr>
        <p:spPr>
          <a:xfrm>
            <a:off x="0" y="1371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46E7A"/>
                </a:solidFill>
              </a:rPr>
              <a:t>2004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-54864" y="1709547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</a:rPr>
              <a:t>PCI DSS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</a:rPr>
              <a:t>v1.0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19072" y="1643253"/>
            <a:ext cx="237744" cy="23774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s-CO" sz="900"/>
          </a:p>
        </p:txBody>
      </p:sp>
      <p:sp>
        <p:nvSpPr>
          <p:cNvPr id="9" name="Text 7"/>
          <p:cNvSpPr/>
          <p:nvPr/>
        </p:nvSpPr>
        <p:spPr>
          <a:xfrm>
            <a:off x="1371600" y="1371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88E5"/>
                </a:solidFill>
              </a:rPr>
              <a:t>2006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98448" y="16992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</a:rPr>
              <a:t>Fundación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</a:rPr>
              <a:t>PCI SSC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73552" y="1643253"/>
            <a:ext cx="237744" cy="23774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s-CO" sz="900"/>
          </a:p>
        </p:txBody>
      </p:sp>
      <p:sp>
        <p:nvSpPr>
          <p:cNvPr id="12" name="Text 10"/>
          <p:cNvSpPr/>
          <p:nvPr/>
        </p:nvSpPr>
        <p:spPr>
          <a:xfrm>
            <a:off x="2926080" y="1371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88E5"/>
                </a:solidFill>
              </a:rPr>
              <a:t>2013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80360" y="174117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</a:rPr>
              <a:t>PCI DSS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</a:rPr>
              <a:t>v3.0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36592" y="1643253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 sz="900"/>
          </a:p>
        </p:txBody>
      </p:sp>
      <p:sp>
        <p:nvSpPr>
          <p:cNvPr id="15" name="Text 13"/>
          <p:cNvSpPr/>
          <p:nvPr/>
        </p:nvSpPr>
        <p:spPr>
          <a:xfrm>
            <a:off x="4389120" y="1371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</a:rPr>
              <a:t>2018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15968" y="1762125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</a:rPr>
              <a:t>PCI DSS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</a:rPr>
              <a:t>v3.2.1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08192" y="1643253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 sz="900"/>
          </a:p>
        </p:txBody>
      </p:sp>
      <p:sp>
        <p:nvSpPr>
          <p:cNvPr id="18" name="Text 16"/>
          <p:cNvSpPr/>
          <p:nvPr/>
        </p:nvSpPr>
        <p:spPr>
          <a:xfrm>
            <a:off x="5760720" y="1371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</a:rPr>
              <a:t>2022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78424" y="1780032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</a:rPr>
              <a:t>PCI DSS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</a:rPr>
              <a:t>v4.0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71232" y="1643253"/>
            <a:ext cx="237744" cy="23774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s-CO" sz="900"/>
          </a:p>
        </p:txBody>
      </p:sp>
      <p:sp>
        <p:nvSpPr>
          <p:cNvPr id="21" name="Text 19"/>
          <p:cNvSpPr/>
          <p:nvPr/>
        </p:nvSpPr>
        <p:spPr>
          <a:xfrm>
            <a:off x="7223760" y="1371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CD4"/>
                </a:solidFill>
              </a:rPr>
              <a:t>2024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0989" y="1741932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</a:rPr>
              <a:t>PCI DSS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</a:rPr>
              <a:t>v4.0.1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</a:rPr>
              <a:t>✅ VIGENTE</a:t>
            </a:r>
            <a:endParaRPr lang="en-US" sz="9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6C45C75-9747-9A98-E375-3D5252357962}"/>
              </a:ext>
            </a:extLst>
          </p:cNvPr>
          <p:cNvSpPr txBox="1"/>
          <p:nvPr/>
        </p:nvSpPr>
        <p:spPr>
          <a:xfrm>
            <a:off x="121920" y="2426458"/>
            <a:ext cx="126796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/>
              <a:t>Nacimiento del estándar:</a:t>
            </a:r>
            <a:r>
              <a:rPr lang="es-ES" sz="900" dirty="0"/>
              <a:t> Se unificaron los programas de seguridad de Visa, </a:t>
            </a:r>
            <a:r>
              <a:rPr lang="es-ES" sz="900" dirty="0" err="1"/>
              <a:t>Mastercard</a:t>
            </a:r>
            <a:r>
              <a:rPr lang="es-ES" sz="900" dirty="0"/>
              <a:t>, AMEX, </a:t>
            </a:r>
            <a:r>
              <a:rPr lang="es-ES" sz="900" dirty="0" err="1"/>
              <a:t>Discover</a:t>
            </a:r>
            <a:r>
              <a:rPr lang="es-ES" sz="900" dirty="0"/>
              <a:t> y JCB en un solo </a:t>
            </a:r>
            <a:r>
              <a:rPr lang="es-ES" sz="900" dirty="0" err="1"/>
              <a:t>framework</a:t>
            </a:r>
            <a:r>
              <a:rPr lang="es-ES" sz="900" dirty="0"/>
              <a:t> de 12 requisitos principales.</a:t>
            </a:r>
            <a:endParaRPr lang="es-CO" sz="9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C30F25E-8055-4A88-E6BE-DF4F1AD50EE4}"/>
              </a:ext>
            </a:extLst>
          </p:cNvPr>
          <p:cNvSpPr txBox="1"/>
          <p:nvPr/>
        </p:nvSpPr>
        <p:spPr>
          <a:xfrm>
            <a:off x="1433512" y="2444597"/>
            <a:ext cx="1151001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/>
              <a:t>Se fundó el </a:t>
            </a:r>
            <a:r>
              <a:rPr lang="es-ES" sz="900" b="1" dirty="0"/>
              <a:t>Consejo de Estándares de Seguridad (SSC)</a:t>
            </a:r>
            <a:r>
              <a:rPr lang="es-ES" sz="900" dirty="0"/>
              <a:t> como entidad independiente para gestionar el estándar, desligándolo de la gestión directa de las marcas de tarjetas.</a:t>
            </a:r>
            <a:endParaRPr lang="es-CO" sz="9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0A58863-C4D7-6427-5854-0CEC460675D0}"/>
              </a:ext>
            </a:extLst>
          </p:cNvPr>
          <p:cNvSpPr txBox="1"/>
          <p:nvPr/>
        </p:nvSpPr>
        <p:spPr>
          <a:xfrm>
            <a:off x="2853499" y="2454271"/>
            <a:ext cx="14624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/>
              <a:t>Enfoque en la seguridad diaria:</a:t>
            </a:r>
            <a:r>
              <a:rPr lang="es-ES" sz="900" dirty="0"/>
              <a:t> Se pasó de una mentalidad de "cumplir una vez al año" a mantener la seguridad como un proceso continuo. Se introdujo mayor rigor en la segmentación de red.</a:t>
            </a:r>
            <a:endParaRPr lang="es-CO" sz="9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77453AD-5CA6-FDED-76A2-91B739D3C661}"/>
              </a:ext>
            </a:extLst>
          </p:cNvPr>
          <p:cNvSpPr txBox="1"/>
          <p:nvPr/>
        </p:nvSpPr>
        <p:spPr>
          <a:xfrm>
            <a:off x="4335208" y="2427119"/>
            <a:ext cx="14624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/>
              <a:t>Autenticación Multi-Factor (MFA):</a:t>
            </a:r>
            <a:r>
              <a:rPr lang="es-ES" sz="900" dirty="0"/>
              <a:t> Se volvió obligatoria para cualquier acceso administrativo y acceso remoto. Fue una versión de "madurez" tecnológica y parches de seguridad críticos.</a:t>
            </a:r>
            <a:endParaRPr lang="es-CO" sz="9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8BA51D8-1BBE-110F-0668-CB485F702A1D}"/>
              </a:ext>
            </a:extLst>
          </p:cNvPr>
          <p:cNvSpPr txBox="1"/>
          <p:nvPr/>
        </p:nvSpPr>
        <p:spPr>
          <a:xfrm>
            <a:off x="5751576" y="2409760"/>
            <a:ext cx="1462469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/>
              <a:t>Flexibilidad y Seguridad Continua:</a:t>
            </a:r>
            <a:r>
              <a:rPr lang="es-ES" sz="900" dirty="0"/>
              <a:t> El mayor cambio en una década. Permite el "Enfoque Personalizado" (</a:t>
            </a:r>
            <a:r>
              <a:rPr lang="es-ES" sz="900" dirty="0" err="1"/>
              <a:t>Customized</a:t>
            </a:r>
            <a:r>
              <a:rPr lang="es-ES" sz="900" dirty="0"/>
              <a:t> </a:t>
            </a:r>
            <a:r>
              <a:rPr lang="es-ES" sz="900" dirty="0" err="1"/>
              <a:t>Approach</a:t>
            </a:r>
            <a:r>
              <a:rPr lang="es-ES" sz="900" dirty="0"/>
              <a:t>), permitiendo a las empresas demostrar seguridad con controles alternativos.</a:t>
            </a:r>
            <a:endParaRPr lang="es-CO" sz="9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19DB8D8-8390-9A35-52AC-486B9F8C18C6}"/>
              </a:ext>
            </a:extLst>
          </p:cNvPr>
          <p:cNvSpPr txBox="1"/>
          <p:nvPr/>
        </p:nvSpPr>
        <p:spPr>
          <a:xfrm>
            <a:off x="7223760" y="2401818"/>
            <a:ext cx="146246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/>
              <a:t>Aclaraciones y Erratas:</a:t>
            </a:r>
            <a:r>
              <a:rPr lang="es-ES" sz="900" dirty="0"/>
              <a:t> Como indica tu imagen, no hay requisitos nuevos. Se corrigieron errores tipográficos y se aclararon intenciones para facilitar la auditoría.</a:t>
            </a:r>
            <a:endParaRPr lang="es-CO" sz="9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332C02D-CA9C-5AFA-29CD-8C33F1FAE806}"/>
              </a:ext>
            </a:extLst>
          </p:cNvPr>
          <p:cNvSpPr txBox="1"/>
          <p:nvPr/>
        </p:nvSpPr>
        <p:spPr>
          <a:xfrm>
            <a:off x="121920" y="3996375"/>
            <a:ext cx="1267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900" b="1" dirty="0"/>
              <a:t>~75-80</a:t>
            </a:r>
            <a:r>
              <a:rPr lang="es-CO" sz="900" dirty="0"/>
              <a:t> </a:t>
            </a:r>
            <a:r>
              <a:rPr lang="es-CO" sz="900" dirty="0" err="1"/>
              <a:t>sub-controles</a:t>
            </a:r>
            <a:r>
              <a:rPr lang="es-CO" sz="900" dirty="0"/>
              <a:t> básicos.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8E5CBC4-36F1-15C9-F9B3-BF37CD3F8C8F}"/>
              </a:ext>
            </a:extLst>
          </p:cNvPr>
          <p:cNvSpPr txBox="1"/>
          <p:nvPr/>
        </p:nvSpPr>
        <p:spPr>
          <a:xfrm>
            <a:off x="1447038" y="4140361"/>
            <a:ext cx="1267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/>
              <a:t>Mantuvieron la estructura de la v1.1.</a:t>
            </a:r>
            <a:endParaRPr lang="es-CO" sz="9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66A13B3-3B29-CD0E-3105-C50FB420197E}"/>
              </a:ext>
            </a:extLst>
          </p:cNvPr>
          <p:cNvSpPr txBox="1"/>
          <p:nvPr/>
        </p:nvSpPr>
        <p:spPr>
          <a:xfrm>
            <a:off x="2851594" y="3667977"/>
            <a:ext cx="146246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/>
              <a:t>~300+</a:t>
            </a:r>
            <a:r>
              <a:rPr lang="es-ES" sz="900" dirty="0"/>
              <a:t> </a:t>
            </a:r>
            <a:r>
              <a:rPr lang="es-ES" sz="900" dirty="0" err="1"/>
              <a:t>sub-controles</a:t>
            </a:r>
            <a:r>
              <a:rPr lang="es-ES" sz="900" dirty="0"/>
              <a:t> (debido a mayor granularidad).</a:t>
            </a:r>
            <a:endParaRPr lang="es-CO" sz="9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B9BDA70A-632B-DBEF-DB82-3A15EFA9D21D}"/>
              </a:ext>
            </a:extLst>
          </p:cNvPr>
          <p:cNvSpPr txBox="1"/>
          <p:nvPr/>
        </p:nvSpPr>
        <p:spPr>
          <a:xfrm>
            <a:off x="4314062" y="3637229"/>
            <a:ext cx="14624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900" b="1" dirty="0"/>
              <a:t>~330-350</a:t>
            </a:r>
            <a:r>
              <a:rPr lang="es-CO" sz="900" dirty="0"/>
              <a:t> </a:t>
            </a:r>
            <a:r>
              <a:rPr lang="es-CO" sz="900" dirty="0" err="1"/>
              <a:t>sub-controles</a:t>
            </a:r>
            <a:r>
              <a:rPr lang="es-CO" sz="900" dirty="0"/>
              <a:t>.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CFAD804-4975-7E1C-AC8A-3E616CA80E55}"/>
              </a:ext>
            </a:extLst>
          </p:cNvPr>
          <p:cNvSpPr txBox="1"/>
          <p:nvPr/>
        </p:nvSpPr>
        <p:spPr>
          <a:xfrm>
            <a:off x="5751576" y="3732479"/>
            <a:ext cx="162401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/>
              <a:t>~360+</a:t>
            </a:r>
            <a:r>
              <a:rPr lang="es-ES" sz="900" dirty="0"/>
              <a:t> (Se añadieron más de 60 requisitos nuevos/modificados).</a:t>
            </a:r>
            <a:endParaRPr lang="es-CO" sz="9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774B9E3-3CF8-B7BB-1CD5-5CF3E30589E6}"/>
              </a:ext>
            </a:extLst>
          </p:cNvPr>
          <p:cNvSpPr txBox="1"/>
          <p:nvPr/>
        </p:nvSpPr>
        <p:spPr>
          <a:xfrm>
            <a:off x="7248524" y="3539184"/>
            <a:ext cx="16240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/>
              <a:t>Se mantiene igual que la </a:t>
            </a:r>
            <a:r>
              <a:rPr lang="es-ES" sz="900" b="1" dirty="0"/>
              <a:t>v4.0</a:t>
            </a:r>
            <a:r>
              <a:rPr lang="es-ES" sz="900" dirty="0"/>
              <a:t>.</a:t>
            </a:r>
            <a:endParaRPr lang="es-CO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74320" y="1005840"/>
            <a:ext cx="39319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COMERCIOS (Merchants)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548640" cy="5303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1554480"/>
            <a:ext cx="3337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&gt; 6 millones tx/</a:t>
            </a:r>
            <a:r>
              <a:rPr lang="en-US" sz="1100" dirty="0" err="1">
                <a:solidFill>
                  <a:srgbClr val="0A1628"/>
                </a:solidFill>
              </a:rPr>
              <a:t>año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548640" cy="5303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74320" y="221284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2212848"/>
            <a:ext cx="3337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960120" y="221284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1 a 6 millones tx/año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71216"/>
            <a:ext cx="54864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74320" y="2871216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2871216"/>
            <a:ext cx="3337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960120" y="2871216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20,000 a 1 millón tx/año (e-comm)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529584"/>
            <a:ext cx="548640" cy="5303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274320" y="35295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3529584"/>
            <a:ext cx="3337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960120" y="3529584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&lt; 20,000 tx e-comm / otros &lt; 1M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PROVEEDORES DE SERVICIO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554480"/>
            <a:ext cx="548640" cy="5303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846320" y="155448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40680" y="1554480"/>
            <a:ext cx="3337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532120" y="155448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TPP / DSE con &gt; 300,000 tx/año o designados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212848"/>
            <a:ext cx="54864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846320" y="221284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40680" y="2212848"/>
            <a:ext cx="3337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5532120" y="221284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DSE con &lt; 300,000 tx/año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206240"/>
            <a:ext cx="8503920" cy="73152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57200" y="422452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</a:rPr>
              <a:t>⚠  El nivel lo determina cada marca de pago (Visa, Mastercard, etc.) por separado, según el volumen de transacciones en esa red específica, no el volumen total.</a:t>
            </a:r>
            <a:endParaRPr lang="en-US" sz="1100" dirty="0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06F4C063-DA25-5B67-3764-998E5065C8A2}"/>
              </a:ext>
            </a:extLst>
          </p:cNvPr>
          <p:cNvSpPr/>
          <p:nvPr/>
        </p:nvSpPr>
        <p:spPr>
          <a:xfrm>
            <a:off x="-6531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308B0E73-CF0F-7262-7735-7523CD2C229D}"/>
              </a:ext>
            </a:extLst>
          </p:cNvPr>
          <p:cNvSpPr/>
          <p:nvPr/>
        </p:nvSpPr>
        <p:spPr>
          <a:xfrm>
            <a:off x="365760" y="-274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6. NIVELES DE CUMPLIMIENTO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7. ALCANCE (SCOPING) 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57200" y="4270248"/>
            <a:ext cx="832104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💡  La mejor práctica: reducir al máximo el alcance mediante segmentación de red, tokenización y cifrado punto a punto.</a:t>
            </a:r>
            <a:endParaRPr lang="en-US" sz="11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6D42AAC0-5DD4-07BA-72D8-02D4C6B68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205" y="932688"/>
            <a:ext cx="5643155" cy="3182112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68C0492F-D496-2C65-D212-BD5494B1E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84" y="1388371"/>
            <a:ext cx="2161317" cy="22341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8LOS 12 REQUERIMIENTOS — PCI DSS v4.0.1</a:t>
            </a:r>
            <a:endParaRPr lang="en-US" sz="2400" dirty="0"/>
          </a:p>
        </p:txBody>
      </p:sp>
      <p:sp>
        <p:nvSpPr>
          <p:cNvPr id="57" name="Shape 0">
            <a:extLst>
              <a:ext uri="{FF2B5EF4-FFF2-40B4-BE49-F238E27FC236}">
                <a16:creationId xmlns:a16="http://schemas.microsoft.com/office/drawing/2014/main" id="{F9F82FEF-D612-977E-14CC-803F1D3C55D6}"/>
              </a:ext>
            </a:extLst>
          </p:cNvPr>
          <p:cNvSpPr/>
          <p:nvPr/>
        </p:nvSpPr>
        <p:spPr>
          <a:xfrm>
            <a:off x="0" y="-6531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559B32E7-F286-D16C-B459-DE174C6724FF}"/>
              </a:ext>
            </a:extLst>
          </p:cNvPr>
          <p:cNvSpPr txBox="1"/>
          <p:nvPr/>
        </p:nvSpPr>
        <p:spPr>
          <a:xfrm>
            <a:off x="365760" y="135948"/>
            <a:ext cx="5976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8. LOS 12 REQUERIMIENTOS — PCI DSS v4.0.1</a:t>
            </a:r>
            <a:endParaRPr lang="en-US" dirty="0"/>
          </a:p>
          <a:p>
            <a:endParaRPr lang="es-CO" dirty="0"/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3C6DEEAE-BE88-DE77-7821-6AE14D08C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040" y="1043817"/>
            <a:ext cx="5784434" cy="38045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3327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01752" y="1005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ROC — Report on Compliance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1078992"/>
            <a:ext cx="1143000" cy="3108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154680" y="1078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Nivel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" y="177850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Documento más completo. Elaborado por QSA acreditado.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194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</a:rPr>
              <a:t>12 Reqs · 407 Controles · 804 Sub-</a:t>
            </a:r>
            <a:r>
              <a:rPr lang="en-US" sz="1000" i="1" dirty="0" err="1">
                <a:solidFill>
                  <a:srgbClr val="546E7A"/>
                </a:solidFill>
              </a:rPr>
              <a:t>controles</a:t>
            </a:r>
            <a:r>
              <a:rPr lang="en-US" sz="1000" i="1" dirty="0">
                <a:solidFill>
                  <a:srgbClr val="546E7A"/>
                </a:solidFill>
              </a:rPr>
              <a:t> 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1728" y="10058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681728" y="1005840"/>
            <a:ext cx="420624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754880" y="1005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🏪 SAQ-D — Comercio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07808" y="1078992"/>
            <a:ext cx="114300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607808" y="1078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Nivel 2-4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7602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Auto-evaluación para comercios que almacenan CHD.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73168" y="2194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</a:rPr>
              <a:t>12 Reqs · 224 Controles · 329 Sub-</a:t>
            </a:r>
            <a:r>
              <a:rPr lang="en-US" sz="1000" i="1" dirty="0" err="1">
                <a:solidFill>
                  <a:srgbClr val="546E7A"/>
                </a:solidFill>
              </a:rPr>
              <a:t>controles</a:t>
            </a:r>
            <a:r>
              <a:rPr lang="en-US" sz="1000" i="1" dirty="0">
                <a:solidFill>
                  <a:srgbClr val="546E7A"/>
                </a:solidFill>
              </a:rPr>
              <a:t> ·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99923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28600" y="2999232"/>
            <a:ext cx="420624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01752" y="29992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🏢 SAQ-D — Proveedor de Servicio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3072384"/>
            <a:ext cx="114300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154680" y="307238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Nivel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375361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Auto-evaluación para proveedores de servicio.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18795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</a:rPr>
              <a:t>12 Reqs · 234 Controles · 354 Sub-controles · 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1728" y="299923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4681728" y="2999232"/>
            <a:ext cx="420624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754880" y="29992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AOC — Attestation of Compliance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07808" y="3072384"/>
            <a:ext cx="114300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607808" y="307238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Todos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73168" y="3679807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</a:rPr>
              <a:t>Documento oficial que certifica el cumplimiento PCI. Es el único que prueba la certificación ante clientes o socios.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73168" y="418795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</a:rPr>
              <a:t>Acompaña siempre al ROC o SAQ</a:t>
            </a:r>
            <a:endParaRPr lang="en-US" sz="1000" dirty="0"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CAAAC22A-4ABA-973D-94C0-87225B040786}"/>
              </a:ext>
            </a:extLst>
          </p:cNvPr>
          <p:cNvSpPr/>
          <p:nvPr/>
        </p:nvSpPr>
        <p:spPr>
          <a:xfrm>
            <a:off x="0" y="-4572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8946347-D2BA-D018-30C4-25A3BCC7FC6A}"/>
              </a:ext>
            </a:extLst>
          </p:cNvPr>
          <p:cNvSpPr txBox="1"/>
          <p:nvPr/>
        </p:nvSpPr>
        <p:spPr>
          <a:xfrm>
            <a:off x="215537" y="209286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9. DOCUMENTOS DE CUMPLIMIENTO PCI DSS v4.0.1</a:t>
            </a:r>
            <a:endParaRPr lang="en-US" dirty="0"/>
          </a:p>
          <a:p>
            <a:endParaRPr lang="es-CO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10. FASES DEL PROYECTO DE CERTIFICACIÓN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3546567"/>
            <a:ext cx="786384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02920" y="3180807"/>
            <a:ext cx="731520" cy="7315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02920" y="3180807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1626327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228600" y="1626327"/>
            <a:ext cx="13716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28600" y="1626327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Kickoff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037807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Presentación, definición de equipo, alcance inicial y coordinación.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" y="4003767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Kickoff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65960" y="3180807"/>
            <a:ext cx="731520" cy="7315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965960" y="3180807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691640" y="1626327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1691640" y="1626327"/>
            <a:ext cx="1371600" cy="3657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691640" y="1626327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Scoping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2037807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Identificar todos los flujos de datos, sistemas y redes en alcance PCI.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45920" y="4003767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8E5"/>
                </a:solidFill>
              </a:rPr>
              <a:t>Scoping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3180807"/>
            <a:ext cx="731520" cy="7315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429000" y="3180807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154680" y="1626327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154680" y="1626327"/>
            <a:ext cx="1371600" cy="365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154680" y="1626327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Análisis GAP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2037807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Evaluar el estado actual vs requerimientos. Confección de ROC/SAQ inicial.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08960" y="4003767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</a:rPr>
              <a:t>Análisis GAP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180807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892040" y="3180807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617720" y="1626327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4617720" y="1626327"/>
            <a:ext cx="137160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617720" y="1626327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Remediaciones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2037807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Implementar controles faltantes según plan de </a:t>
            </a:r>
            <a:r>
              <a:rPr lang="en-US" sz="900" dirty="0" err="1">
                <a:solidFill>
                  <a:srgbClr val="0A1628"/>
                </a:solidFill>
              </a:rPr>
              <a:t>trabajo</a:t>
            </a:r>
            <a:r>
              <a:rPr lang="en-US" sz="900" dirty="0">
                <a:solidFill>
                  <a:srgbClr val="0A1628"/>
                </a:solidFill>
              </a:rPr>
              <a:t> 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0" y="4003767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</a:rPr>
              <a:t>Remediaciones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3180807"/>
            <a:ext cx="731520" cy="7315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6355080" y="3180807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080760" y="1626327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6080760" y="1626327"/>
            <a:ext cx="13716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6080760" y="1626327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Auditoría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2037807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QSA revisa evidencias y controles. Se completa la documentación oficial.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35040" y="4003767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Auditoría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18120" y="3180807"/>
            <a:ext cx="731520" cy="7315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7818120" y="3180807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7543800" y="1626327"/>
            <a:ext cx="1371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3" name="Shape 41"/>
          <p:cNvSpPr/>
          <p:nvPr/>
        </p:nvSpPr>
        <p:spPr>
          <a:xfrm>
            <a:off x="7543800" y="1626327"/>
            <a:ext cx="1371600" cy="3657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7543800" y="1626327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Certificación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89520" y="2037807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</a:rPr>
              <a:t>Si cumplimiento es 100%: firma del AOC. Certificación válida por 1 año.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98080" y="4003767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</a:rPr>
              <a:t>Certificación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GRACIAS….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8c5292c-6f85-4565-8ace-969dada78808}" enabled="0" method="" siteId="{98c5292c-6f85-4565-8ace-969dada7880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1146</Words>
  <Application>Microsoft Office PowerPoint</Application>
  <PresentationFormat>Presentación en pantalla (16:9)</PresentationFormat>
  <Paragraphs>170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Norma PCI DSS v4.0.1</dc:title>
  <dc:subject>PptxGenJS Presentation</dc:subject>
  <dc:creator>Capacitación PCI DSS</dc:creator>
  <cp:lastModifiedBy>San215D</cp:lastModifiedBy>
  <cp:revision>6</cp:revision>
  <dcterms:created xsi:type="dcterms:W3CDTF">2026-05-07T01:15:30Z</dcterms:created>
  <dcterms:modified xsi:type="dcterms:W3CDTF">2026-05-09T14:32:38Z</dcterms:modified>
</cp:coreProperties>
</file>