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65" r:id="rId6"/>
    <p:sldId id="266" r:id="rId7"/>
    <p:sldId id="267" r:id="rId8"/>
    <p:sldId id="268" r:id="rId9"/>
    <p:sldId id="270" r:id="rId10"/>
    <p:sldId id="271" r:id="rId11"/>
    <p:sldId id="272" r:id="rId12"/>
    <p:sldId id="262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15D6F4-C770-D85F-02F5-9E8268C108EF}" v="427" dt="2026-05-08T19:32:41.069"/>
    <p1510:client id="{8F579EF1-29E2-405F-9DEF-BE2E2D66AE3F}" v="19" dt="2026-05-08T04:31:50.4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4D20-9575-18BE-8E40-7E542FD99B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555270-8621-46B3-2BB2-0FE808D18B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4262FF-93B6-D36E-3A49-E5075D098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F00DA-6E17-45DF-9E15-1E8FD1C731C3}" type="datetimeFigureOut">
              <a:rPr lang="es-CO" smtClean="0"/>
              <a:t>9/05/2026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3FCE9F-0879-A911-3308-653FDC875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AA3872-63FD-8A85-943A-510CDD0F0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C3CD6-F5BE-414B-BE43-1417DD103A9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00581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3DE24E-2652-F836-AF95-8BE9D8C2E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A3C279-1906-7DEA-22B5-F674AD4E7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2C68DE-BBF9-F4B2-7E9E-41B36E622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F00DA-6E17-45DF-9E15-1E8FD1C731C3}" type="datetimeFigureOut">
              <a:rPr lang="es-CO" smtClean="0"/>
              <a:t>9/05/2026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CDCD32-8822-1664-AB83-F101BB696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8978F6-6C88-2A7E-DE0A-822830A53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C3CD6-F5BE-414B-BE43-1417DD103A9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36814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EBF30C-3737-A250-CB25-EE3F52950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32C0C0-0E46-8E67-A9EB-2223CC541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B2DCD6-8360-AE60-F44F-255DFBAAB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F00DA-6E17-45DF-9E15-1E8FD1C731C3}" type="datetimeFigureOut">
              <a:rPr lang="es-CO" smtClean="0"/>
              <a:t>9/05/2026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4CEC8E-A18B-7535-C1A3-14BB89877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FBF00B-8FB7-032E-C056-E21264796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C3CD6-F5BE-414B-BE43-1417DD103A9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89270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44A963-46EA-55C5-DCAE-A2EC34C4F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9ED337-ACD5-D2C3-D0C0-56025117B8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91783D5-310B-4B91-8EC9-FEC3F97397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13694F3-9767-E1B7-1BF7-E543B7281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F00DA-6E17-45DF-9E15-1E8FD1C731C3}" type="datetimeFigureOut">
              <a:rPr lang="es-CO" smtClean="0"/>
              <a:t>9/05/2026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059DD6-2C39-D284-5EF6-D67593B36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31CCD5-A1A4-6164-6C97-D7CA65337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C3CD6-F5BE-414B-BE43-1417DD103A9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46782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676E40-7F21-A9BA-745C-6D43E1E8F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3EC0D0-D893-7E49-2DFE-769CCDD86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CCC6B93-53CB-B53D-AFC1-0A740F52D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9128D1E-C8E3-A9E3-04BE-F59E366351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E03EC37-F51F-2014-074C-14FC7B943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44A745B-FA45-1266-0CD3-583EAF538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F00DA-6E17-45DF-9E15-1E8FD1C731C3}" type="datetimeFigureOut">
              <a:rPr lang="es-CO" smtClean="0"/>
              <a:t>9/05/2026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B2076E5-C2FB-1268-8C71-779640BB3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14E412F-A638-141A-121D-A198445EF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C3CD6-F5BE-414B-BE43-1417DD103A9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1528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C9734D-21CD-F974-BF6C-FEB145869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EFE05CC-A57D-1043-F97E-A5867AC8D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F00DA-6E17-45DF-9E15-1E8FD1C731C3}" type="datetimeFigureOut">
              <a:rPr lang="es-CO" smtClean="0"/>
              <a:t>9/05/2026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F9E9FA0-3BA0-FDA3-E3C8-A6BF79526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D871183-B0C0-0863-A923-D9A0A8D86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C3CD6-F5BE-414B-BE43-1417DD103A9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42396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4A1F463-5F7B-8466-9971-0A830916B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F00DA-6E17-45DF-9E15-1E8FD1C731C3}" type="datetimeFigureOut">
              <a:rPr lang="es-CO" smtClean="0"/>
              <a:t>9/05/2026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71ED266-6994-C368-09EE-A09BA2489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B50C5E6-7EA5-3AF4-97B1-DB6C9A87F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C3CD6-F5BE-414B-BE43-1417DD103A9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4645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F01784-30F7-9B76-11FA-81C9B766D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8FBC8B-9610-C9AA-B533-36466D738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53B67DD-35C1-6D31-C8A1-B7BC1F3EF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DD0D96-7D7B-3B12-300A-1C80610CF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F00DA-6E17-45DF-9E15-1E8FD1C731C3}" type="datetimeFigureOut">
              <a:rPr lang="es-CO" smtClean="0"/>
              <a:t>9/05/2026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407180-E76D-D599-3011-60EB50D37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0F0DA88-2975-9E50-086F-0D1F795F2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C3CD6-F5BE-414B-BE43-1417DD103A9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5584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81FD0F-1CC4-3FA4-1577-B62CB8919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CDBA088-305A-DF5D-1DA0-17C9B53324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28DDD4-B304-C07F-2980-76A411BB96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51970C6-65D2-F26C-B237-2BCBA6D55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F00DA-6E17-45DF-9E15-1E8FD1C731C3}" type="datetimeFigureOut">
              <a:rPr lang="es-CO" smtClean="0"/>
              <a:t>9/05/2026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52C06F-92E8-4CB2-9673-31FE38364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C02A98F-0999-D249-121D-7F32E01F6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C3CD6-F5BE-414B-BE43-1417DD103A9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30489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8EC866-80C3-FDFD-0AC7-85085F0EF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7725362-4576-7A8B-57C0-8780B405D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05B1E8-22A1-5FA9-B0FC-418775A3B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F00DA-6E17-45DF-9E15-1E8FD1C731C3}" type="datetimeFigureOut">
              <a:rPr lang="es-CO" smtClean="0"/>
              <a:t>9/05/2026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D37834-950E-7021-6BD5-43977EB2C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9DF4C5-3635-D0E8-916A-D27B0DC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C3CD6-F5BE-414B-BE43-1417DD103A9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0130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B8DA78B-AD83-4579-DB1F-9FA3103319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3DBEA10-DFE4-7F44-DA14-D3584D61E8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6C6EBF-26B6-41E7-2690-4E6E51C65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F00DA-6E17-45DF-9E15-1E8FD1C731C3}" type="datetimeFigureOut">
              <a:rPr lang="es-CO" smtClean="0"/>
              <a:t>9/05/2026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DFDB49-549F-4158-D3BC-5B5AC64EB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9E3A7A-FFA9-094F-8D56-E7E2FA1CC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C3CD6-F5BE-414B-BE43-1417DD103A9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06479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109DAB2-9810-078E-CEA8-348BD73B3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CEC502-0A2C-0E94-6B8B-9A3BD1F92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D699F2-4A56-FA6C-1A1A-EE9B5130C2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0F00DA-6E17-45DF-9E15-1E8FD1C731C3}" type="datetimeFigureOut">
              <a:rPr lang="es-CO" smtClean="0"/>
              <a:t>9/05/2026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71E0BC-83E6-89A5-59F5-0C5DBFE881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E8C34C-704E-AC84-DB51-584E04C11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EC3CD6-F5BE-414B-BE43-1417DD103A9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809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owasp.org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WASP/Top10" TargetMode="External"/><Relationship Id="rId2" Type="http://schemas.openxmlformats.org/officeDocument/2006/relationships/hyperlink" Target="https://owasp.org/www-project-top-ten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owasp.org/Top10/2025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508AEB-1E80-EA27-8829-F4997C9C7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257" y="331595"/>
            <a:ext cx="11585750" cy="6219929"/>
          </a:xfrm>
        </p:spPr>
        <p:txBody>
          <a:bodyPr>
            <a:normAutofit/>
          </a:bodyPr>
          <a:lstStyle/>
          <a:p>
            <a:br>
              <a:rPr lang="es-ES" sz="5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5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OWASP</a:t>
            </a:r>
            <a:b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CO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849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56AAA9-AA74-A739-F55D-C66311DF3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46" y="138165"/>
            <a:ext cx="11877153" cy="65816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s-ES" b="1" u="sng">
                <a:latin typeface="Arial"/>
                <a:cs typeface="Arial"/>
              </a:rPr>
              <a:t>Generalidades</a:t>
            </a:r>
          </a:p>
          <a:p>
            <a:pPr marL="0" indent="0" algn="ctr">
              <a:buNone/>
            </a:pPr>
            <a:endParaRPr lang="es-ES" sz="32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2400" dirty="0">
                <a:latin typeface="Arial"/>
                <a:cs typeface="Arial"/>
              </a:rPr>
              <a:t>OWASP (Open </a:t>
            </a:r>
            <a:r>
              <a:rPr lang="es-ES" sz="2400" err="1">
                <a:latin typeface="Arial"/>
                <a:cs typeface="Arial"/>
              </a:rPr>
              <a:t>Worldwide</a:t>
            </a:r>
            <a:r>
              <a:rPr lang="es-ES" sz="2400" dirty="0">
                <a:latin typeface="Arial"/>
                <a:cs typeface="Arial"/>
              </a:rPr>
              <a:t> </a:t>
            </a:r>
            <a:r>
              <a:rPr lang="es-ES" sz="2400" err="1">
                <a:latin typeface="Arial"/>
                <a:cs typeface="Arial"/>
              </a:rPr>
              <a:t>Application</a:t>
            </a:r>
            <a:r>
              <a:rPr lang="es-ES" sz="2400" dirty="0">
                <a:latin typeface="Arial"/>
                <a:cs typeface="Arial"/>
              </a:rPr>
              <a:t> Security Project) – Proyecto Abierto de Seguridad de Aplicaciones Web</a:t>
            </a:r>
            <a:endParaRPr lang="es-ES">
              <a:latin typeface="Arial"/>
              <a:cs typeface="Arial"/>
            </a:endParaRPr>
          </a:p>
          <a:p>
            <a:pPr algn="just"/>
            <a:r>
              <a:rPr lang="es-ES" sz="2400" dirty="0">
                <a:latin typeface="Arial"/>
                <a:cs typeface="Arial"/>
              </a:rPr>
              <a:t>OWASP es una fundación sin fines de lucro y comunidad </a:t>
            </a:r>
            <a:r>
              <a:rPr lang="es-ES" sz="2400">
                <a:latin typeface="Arial"/>
                <a:cs typeface="Arial"/>
              </a:rPr>
              <a:t>abierta dedicada a ayudar a las organizaciones para concebir, desarrollar, adquirir, operar y mantener las aplicaciones confiables</a:t>
            </a:r>
            <a:endParaRPr lang="es-ES">
              <a:latin typeface="Arial"/>
              <a:cs typeface="Arial"/>
            </a:endParaRPr>
          </a:p>
          <a:p>
            <a:pPr algn="just"/>
            <a:r>
              <a:rPr lang="es-ES" sz="2400">
                <a:latin typeface="Arial"/>
                <a:cs typeface="Arial"/>
              </a:rPr>
              <a:t>OWASP trabaja para mejorar la seguridad del software mediante proyectos de código abierto dirigidos por la comunidad</a:t>
            </a:r>
            <a:endParaRPr lang="es-ES">
              <a:latin typeface="Aptos"/>
              <a:cs typeface="Arial" panose="020B0604020202020204" pitchFamily="34" charset="0"/>
            </a:endParaRPr>
          </a:p>
          <a:p>
            <a:pPr algn="just"/>
            <a:r>
              <a:rPr lang="es-ES" sz="2400">
                <a:latin typeface="Arial"/>
                <a:cs typeface="Arial"/>
              </a:rPr>
              <a:t>OWASP produce</a:t>
            </a:r>
            <a:r>
              <a:rPr lang="es-ES" sz="2400" dirty="0">
                <a:latin typeface="Arial"/>
                <a:cs typeface="Arial"/>
              </a:rPr>
              <a:t> diversos tipos de materiales de manera colaborativa, transparente y abierta</a:t>
            </a:r>
            <a:endParaRPr lang="es-ES" dirty="0">
              <a:latin typeface="Aptos"/>
              <a:cs typeface="Arial" panose="020B0604020202020204" pitchFamily="34" charset="0"/>
            </a:endParaRPr>
          </a:p>
          <a:p>
            <a:pPr algn="just"/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36AFF9B-BCFF-579B-A6AF-58FEBC7CC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314" y="4768645"/>
            <a:ext cx="4938254" cy="1646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023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CEC48E-1FC1-4469-A0AC-2D540EEF2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9111F2-43A3-A34D-1E3C-ED0201A8D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46" y="138165"/>
            <a:ext cx="11877153" cy="65816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s-ES" sz="2400">
                <a:latin typeface="Arial"/>
                <a:cs typeface="Arial"/>
              </a:rPr>
              <a:t>El OWASP opera bajo un principio fundamental: todo su material es libremente accesible y está disponible en su sitio web</a:t>
            </a:r>
          </a:p>
          <a:p>
            <a:pPr algn="just"/>
            <a:r>
              <a:rPr lang="es-ES" sz="2400">
                <a:latin typeface="Arial"/>
                <a:cs typeface="Arial"/>
              </a:rPr>
              <a:t>Visión del OWAPS</a:t>
            </a:r>
            <a:endParaRPr lang="es-E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Misión del OWAPS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909B96D-00EF-2064-AD46-A024AF01E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13" y="1622903"/>
            <a:ext cx="9891617" cy="180609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E2383FD-1F48-4580-F4A7-5F07B577F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364" y="4306786"/>
            <a:ext cx="9853514" cy="217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267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0EDB30-3C3E-7D6A-0554-ACF4640FC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A9EAA2-4662-508E-8251-EB2AFD1E4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46" y="138165"/>
            <a:ext cx="11877153" cy="65816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URL de acceso 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https://owasp.org/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CABB411-1747-46BD-A9DA-52A678F67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299" y="806246"/>
            <a:ext cx="11543402" cy="580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563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F7FD45-4D7B-764B-962D-E1A694E87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E4B8D2-F010-F69B-1860-7521456FA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46" y="138165"/>
            <a:ext cx="11877153" cy="65816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s-ES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Proyectos</a:t>
            </a:r>
          </a:p>
          <a:p>
            <a:pPr marL="0" indent="0" algn="ctr">
              <a:buNone/>
            </a:pPr>
            <a:endParaRPr lang="es-ES" sz="32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2400">
                <a:latin typeface="Arial"/>
                <a:cs typeface="Arial"/>
              </a:rPr>
              <a:t>Los proyectos de OWASP son un conjunto de tareas relacionadas con una hoja de ruta definida y un equipo de trabajo.</a:t>
            </a:r>
          </a:p>
          <a:p>
            <a:pPr algn="just"/>
            <a:r>
              <a:rPr lang="es-ES" sz="2400" dirty="0">
                <a:latin typeface="Arial"/>
                <a:cs typeface="Arial"/>
              </a:rPr>
              <a:t>Los líderes del proyecto OWASP son responsables de definir la visión, la hoja de </a:t>
            </a:r>
            <a:r>
              <a:rPr lang="es-ES" sz="2400">
                <a:latin typeface="Arial"/>
                <a:cs typeface="Arial"/>
              </a:rPr>
              <a:t>ruta y las tareas del proyecto, además de promover la iniciativa y conformar el equipo.</a:t>
            </a:r>
            <a:endParaRPr lang="es-E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2400">
                <a:latin typeface="Arial"/>
                <a:cs typeface="Arial"/>
              </a:rPr>
              <a:t>OWASP cuenta con más de 100 proyectos activos y recibe nuevas propuestas cada semana.</a:t>
            </a:r>
          </a:p>
          <a:p>
            <a:pPr algn="just"/>
            <a:r>
              <a:rPr lang="es-ES" sz="2400">
                <a:latin typeface="Arial"/>
                <a:cs typeface="Arial"/>
              </a:rPr>
              <a:t>Los proyectos permiten a los miembros experimentar libremente con ideas y teorías, con el apoyo profesional de la comunidad OWASP.</a:t>
            </a:r>
            <a:endParaRPr lang="es-ES" sz="2400" dirty="0">
              <a:latin typeface="Arial"/>
              <a:cs typeface="Arial"/>
            </a:endParaRPr>
          </a:p>
          <a:p>
            <a:pPr algn="just"/>
            <a:r>
              <a:rPr lang="es-ES" sz="2400">
                <a:latin typeface="Arial"/>
                <a:cs typeface="Arial"/>
              </a:rPr>
              <a:t>Cada proyecto tiene, como mínimo, su propia página web, lista de correo y Slack Channel. La mayoría mantiene su contenido en GitHub.</a:t>
            </a:r>
            <a:endParaRPr lang="es-ES" sz="2400" dirty="0">
              <a:latin typeface="Arial"/>
              <a:cs typeface="Arial"/>
            </a:endParaRPr>
          </a:p>
          <a:p>
            <a:pPr algn="just"/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035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1F70E-22B0-8584-EDCC-DC3EF8F5F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A95276-4F3F-FA84-E005-9B07B91B2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46" y="138165"/>
            <a:ext cx="11877153" cy="65816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Actualmente OWASP cuenta con 11 grandes proyectos, los cuales son:</a:t>
            </a:r>
          </a:p>
          <a:p>
            <a:pPr algn="just"/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s-ES" dirty="0">
                <a:latin typeface="Arial"/>
                <a:cs typeface="Arial"/>
              </a:rPr>
              <a:t>OWASP </a:t>
            </a:r>
            <a:r>
              <a:rPr lang="es-ES" dirty="0" err="1">
                <a:latin typeface="Arial"/>
                <a:cs typeface="Arial"/>
              </a:rPr>
              <a:t>Application</a:t>
            </a:r>
            <a:r>
              <a:rPr lang="es-ES" dirty="0">
                <a:latin typeface="Arial"/>
                <a:cs typeface="Arial"/>
              </a:rPr>
              <a:t> Security </a:t>
            </a:r>
            <a:r>
              <a:rPr lang="es-ES" dirty="0" err="1">
                <a:latin typeface="Arial"/>
                <a:cs typeface="Arial"/>
              </a:rPr>
              <a:t>Verification</a:t>
            </a:r>
            <a:r>
              <a:rPr lang="es-ES" dirty="0">
                <a:latin typeface="Arial"/>
                <a:cs typeface="Arial"/>
              </a:rPr>
              <a:t> Estándar (ASVS) - proporciona una base para evaluar controles de seguridad técnica en aplicaciones web y guía de requisitos para desarrollo seguro.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s-ES" dirty="0">
                <a:latin typeface="Arial"/>
                <a:cs typeface="Arial"/>
              </a:rPr>
              <a:t>OWASP GenAI Security Project - Una iniciativa global impulsada por la </a:t>
            </a:r>
            <a:r>
              <a:rPr lang="es-ES">
                <a:latin typeface="Arial"/>
                <a:cs typeface="Arial"/>
              </a:rPr>
              <a:t>comunidad y dirigida por expertos para generar recursos de código abierto para comprender y mitigar las preocupaciones de seguridad y protección para las aplicaciones de IA generativa.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s-ES">
                <a:latin typeface="Arial"/>
                <a:cs typeface="Arial"/>
              </a:rPr>
              <a:t>OWASP AI Exchange - es un centro de pensamiento global que reúne a expertos en inteligencia artificial y ciberseguridad; su misión es aportar claridad </a:t>
            </a:r>
            <a:r>
              <a:rPr lang="es-ES" dirty="0">
                <a:latin typeface="Arial"/>
                <a:cs typeface="Arial"/>
              </a:rPr>
              <a:t>en la seguridad de la IA mediante la conexión de profesionales, investigadores, industria y responsables políticos.</a:t>
            </a:r>
          </a:p>
          <a:p>
            <a:pPr algn="just"/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196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E665C6-8544-D457-C855-1B6155B37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8F2862-145C-0ACD-7856-4689C41D3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46" y="138165"/>
            <a:ext cx="11877153" cy="65816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 algn="just">
              <a:buFont typeface="Wingdings" panose="05000000000000000000" pitchFamily="2" charset="2"/>
              <a:buChar char="v"/>
            </a:pPr>
            <a:r>
              <a:rPr lang="es-ES" dirty="0">
                <a:latin typeface="Arial"/>
                <a:cs typeface="Arial"/>
              </a:rPr>
              <a:t>OWASP </a:t>
            </a:r>
            <a:r>
              <a:rPr lang="es-ES" dirty="0" err="1">
                <a:latin typeface="Arial"/>
                <a:cs typeface="Arial"/>
              </a:rPr>
              <a:t>CycloneDX</a:t>
            </a:r>
            <a:r>
              <a:rPr lang="es-ES" dirty="0">
                <a:latin typeface="Arial"/>
                <a:cs typeface="Arial"/>
              </a:rPr>
              <a:t> </a:t>
            </a:r>
            <a:r>
              <a:rPr lang="es-ES" dirty="0" err="1">
                <a:latin typeface="Arial"/>
                <a:cs typeface="Arial"/>
              </a:rPr>
              <a:t>Secure</a:t>
            </a:r>
            <a:r>
              <a:rPr lang="es-ES" dirty="0">
                <a:latin typeface="Arial"/>
                <a:cs typeface="Arial"/>
              </a:rPr>
              <a:t> Bill </a:t>
            </a:r>
            <a:r>
              <a:rPr lang="es-ES" dirty="0" err="1">
                <a:latin typeface="Arial"/>
                <a:cs typeface="Arial"/>
              </a:rPr>
              <a:t>of</a:t>
            </a:r>
            <a:r>
              <a:rPr lang="es-ES" dirty="0">
                <a:latin typeface="Arial"/>
                <a:cs typeface="Arial"/>
              </a:rPr>
              <a:t> </a:t>
            </a:r>
            <a:r>
              <a:rPr lang="es-ES" dirty="0" err="1">
                <a:latin typeface="Arial"/>
                <a:cs typeface="Arial"/>
              </a:rPr>
              <a:t>Materials</a:t>
            </a:r>
            <a:r>
              <a:rPr lang="es-ES" dirty="0">
                <a:latin typeface="Arial"/>
                <a:cs typeface="Arial"/>
              </a:rPr>
              <a:t> - emplea un modelo robusto para capturar componentes, servicios, dependencias y relaciones en inventarios de software y hardware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s-ES" dirty="0">
                <a:latin typeface="Arial"/>
                <a:cs typeface="Arial"/>
              </a:rPr>
              <a:t>OWASP </a:t>
            </a:r>
            <a:r>
              <a:rPr lang="es-ES" dirty="0" err="1">
                <a:latin typeface="Arial"/>
                <a:cs typeface="Arial"/>
              </a:rPr>
              <a:t>Dependency</a:t>
            </a:r>
            <a:r>
              <a:rPr lang="es-ES" dirty="0">
                <a:latin typeface="Arial"/>
                <a:cs typeface="Arial"/>
              </a:rPr>
              <a:t>-Track- es una plataforma inteligente de análisis de componentes que permite identificar y reducir riesgos en la cadena de suministro de software.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s-ES">
                <a:latin typeface="Arial"/>
                <a:cs typeface="Arial"/>
              </a:rPr>
              <a:t>OWASP Juice </a:t>
            </a:r>
            <a:r>
              <a:rPr lang="es-ES" sz="2400">
                <a:latin typeface="Arial"/>
                <a:cs typeface="Arial"/>
              </a:rPr>
              <a:t>Shop - es </a:t>
            </a:r>
            <a:r>
              <a:rPr lang="es-ES">
                <a:latin typeface="Arial"/>
                <a:cs typeface="Arial"/>
              </a:rPr>
              <a:t>una aplicación web insegura moderna utilizada para capacitaciones, CTF y pruebas de herramientas de seguridad.</a:t>
            </a:r>
            <a:endParaRPr lang="es-ES" sz="2400">
              <a:latin typeface="Arial"/>
              <a:cs typeface="Arial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s-ES" dirty="0">
                <a:latin typeface="Arial"/>
                <a:cs typeface="Arial"/>
              </a:rPr>
              <a:t>OWASP Mobile </a:t>
            </a:r>
            <a:r>
              <a:rPr lang="es-ES" err="1">
                <a:latin typeface="Arial"/>
                <a:cs typeface="Arial"/>
              </a:rPr>
              <a:t>Application</a:t>
            </a:r>
            <a:r>
              <a:rPr lang="es-ES" dirty="0">
                <a:latin typeface="Arial"/>
                <a:cs typeface="Arial"/>
              </a:rPr>
              <a:t> Security (MAS) - proporciona las metodologías MASVS, MASWE y MASTG ofreciendo estándares, vulnerabilidades y guías de </a:t>
            </a:r>
            <a:r>
              <a:rPr lang="es-ES">
                <a:latin typeface="Arial"/>
                <a:cs typeface="Arial"/>
              </a:rPr>
              <a:t>pruebas para aplicaciones móviles.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s-ES" dirty="0">
                <a:latin typeface="Arial"/>
                <a:cs typeface="Arial"/>
              </a:rPr>
              <a:t>OWASP </a:t>
            </a:r>
            <a:r>
              <a:rPr lang="es-ES" err="1">
                <a:latin typeface="Arial"/>
                <a:cs typeface="Arial"/>
              </a:rPr>
              <a:t>ModSecurity</a:t>
            </a:r>
            <a:r>
              <a:rPr lang="es-ES">
                <a:latin typeface="Arial"/>
                <a:cs typeface="Arial"/>
              </a:rPr>
              <a:t> Core Rule Set - es un conjunto de reglas genéricas para WAF que protege contra una amplia gama de ataques, incluyendo los del Top Ten.</a:t>
            </a:r>
            <a:endParaRPr lang="es-ES" sz="2400" dirty="0">
              <a:latin typeface="Arial"/>
              <a:cs typeface="Arial"/>
            </a:endParaRPr>
          </a:p>
          <a:p>
            <a:pPr algn="just"/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403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7E2FCB-E23C-FC01-11BD-B02F0BAAC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CC2803-9220-B31C-13FF-944E8220B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46" y="138165"/>
            <a:ext cx="11877153" cy="65816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 algn="just">
              <a:buFont typeface="Wingdings" panose="05000000000000000000" pitchFamily="2" charset="2"/>
              <a:buChar char="v"/>
            </a:pPr>
            <a:endParaRPr lang="es-ES" dirty="0">
              <a:latin typeface="Arial"/>
              <a:cs typeface="Arial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s-ES" dirty="0">
                <a:latin typeface="Arial"/>
                <a:cs typeface="Arial"/>
              </a:rPr>
              <a:t>OWASP Software </a:t>
            </a:r>
            <a:r>
              <a:rPr lang="es-ES" dirty="0" err="1">
                <a:latin typeface="Arial"/>
                <a:cs typeface="Arial"/>
              </a:rPr>
              <a:t>Assurance</a:t>
            </a:r>
            <a:r>
              <a:rPr lang="es-ES" dirty="0">
                <a:latin typeface="Arial"/>
                <a:cs typeface="Arial"/>
              </a:rPr>
              <a:t> </a:t>
            </a:r>
            <a:r>
              <a:rPr lang="es-ES" dirty="0" err="1">
                <a:latin typeface="Arial"/>
                <a:cs typeface="Arial"/>
              </a:rPr>
              <a:t>Maturity</a:t>
            </a:r>
            <a:r>
              <a:rPr lang="es-ES" dirty="0">
                <a:latin typeface="Arial"/>
                <a:cs typeface="Arial"/>
              </a:rPr>
              <a:t> Model (SAMM) – proporciona un modelo para analizar y mejorar el ciclo de vida de desarrollo seguro, independiente de tecnologías y basado en riesgos.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dirty="0">
                <a:latin typeface="Arial"/>
                <a:cs typeface="Arial"/>
              </a:rPr>
              <a:t>OWASP Web Security Testing Guide - </a:t>
            </a:r>
            <a:r>
              <a:rPr lang="es-ES" dirty="0">
                <a:latin typeface="Arial"/>
                <a:cs typeface="Arial"/>
              </a:rPr>
              <a:t>es una guía completa para evaluar la seguridad de aplicaciones y servicios web, la WSTG proporciona un marco de buenas prácticas utilizado por </a:t>
            </a:r>
            <a:r>
              <a:rPr lang="es-ES" dirty="0" err="1">
                <a:latin typeface="Arial"/>
                <a:cs typeface="Arial"/>
              </a:rPr>
              <a:t>pentesters</a:t>
            </a:r>
            <a:r>
              <a:rPr lang="es-ES" dirty="0">
                <a:latin typeface="Arial"/>
                <a:cs typeface="Arial"/>
              </a:rPr>
              <a:t> y organizaciones de todo el mundo.</a:t>
            </a:r>
          </a:p>
        </p:txBody>
      </p:sp>
    </p:spTree>
    <p:extLst>
      <p:ext uri="{BB962C8B-B14F-4D97-AF65-F5344CB8AC3E}">
        <p14:creationId xmlns:p14="http://schemas.microsoft.com/office/powerpoint/2010/main" val="360344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46B5D0-EB98-BE24-7018-89870A598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73DE44-C951-232E-F97E-0182352F0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46" y="138165"/>
            <a:ext cx="11877153" cy="65816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 algn="just">
              <a:buFont typeface="Wingdings" panose="05000000000000000000" pitchFamily="2" charset="2"/>
              <a:buChar char="v"/>
            </a:pPr>
            <a:r>
              <a:rPr lang="es-ES">
                <a:latin typeface="Arial"/>
                <a:cs typeface="Arial"/>
              </a:rPr>
              <a:t>OWASP Top Ten - es un informe de concientización que describe los </a:t>
            </a:r>
            <a:r>
              <a:rPr lang="es-ES" dirty="0">
                <a:latin typeface="Arial"/>
                <a:cs typeface="Arial"/>
              </a:rPr>
              <a:t>riesgos más críticos en la seguridad de aplicaciones web. Se actualiza regularmente para reflejar las amenazas más relevantes.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s-ES">
                <a:latin typeface="Arial"/>
                <a:cs typeface="Arial"/>
              </a:rPr>
              <a:t>Se han publicado ocho versiones de Top Ten, las últimas </a:t>
            </a:r>
            <a:r>
              <a:rPr lang="es-ES" dirty="0">
                <a:latin typeface="Arial"/>
                <a:cs typeface="Arial"/>
              </a:rPr>
              <a:t>publicaciones </a:t>
            </a:r>
            <a:r>
              <a:rPr lang="es-ES">
                <a:latin typeface="Arial"/>
                <a:cs typeface="Arial"/>
              </a:rPr>
              <a:t>fueron en los años (2017, 2021 y 2025), las cuales se encuentran ubicadas en la página web (</a:t>
            </a:r>
            <a:r>
              <a:rPr lang="es-ES" dirty="0">
                <a:latin typeface="Arial"/>
                <a:cs typeface="Arial"/>
                <a:hlinkClick r:id="rId2"/>
              </a:rPr>
              <a:t>https://owasp.org/www-project-top-ten/</a:t>
            </a:r>
            <a:r>
              <a:rPr lang="es-ES" dirty="0">
                <a:latin typeface="Arial"/>
                <a:cs typeface="Arial"/>
              </a:rPr>
              <a:t>) y en el repositorio de GitHub (</a:t>
            </a:r>
            <a:r>
              <a:rPr lang="es-ES" dirty="0">
                <a:latin typeface="Arial"/>
                <a:cs typeface="Arial"/>
                <a:hlinkClick r:id="rId3"/>
              </a:rPr>
              <a:t>https://github.com/OWASP/Top10</a:t>
            </a:r>
            <a:r>
              <a:rPr lang="es-ES" dirty="0">
                <a:latin typeface="Arial"/>
                <a:cs typeface="Arial"/>
              </a:rPr>
              <a:t>)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 algn="just">
              <a:buFont typeface="Wingdings" panose="05000000000000000000" pitchFamily="2" charset="2"/>
              <a:buChar char="§"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826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40DB58-AEC1-15B7-464D-D6A753634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06A04B-0323-66D9-8086-30953A579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46" y="138165"/>
            <a:ext cx="11877153" cy="65816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3" algn="just">
              <a:buFont typeface="Wingdings" panose="020B0604020202020204" pitchFamily="34" charset="0"/>
              <a:buChar char="v"/>
            </a:pPr>
            <a:r>
              <a:rPr lang="es-ES" sz="2400">
                <a:latin typeface="Arial"/>
                <a:cs typeface="Arial"/>
              </a:rPr>
              <a:t>En la versión 2025 (</a:t>
            </a:r>
            <a:r>
              <a:rPr lang="es-ES" sz="2400" dirty="0">
                <a:latin typeface="Arial"/>
                <a:cs typeface="Arial"/>
                <a:hlinkClick r:id="rId2"/>
              </a:rPr>
              <a:t>https://owasp.org/Top10/2025/</a:t>
            </a:r>
            <a:r>
              <a:rPr lang="es-ES" sz="2400">
                <a:latin typeface="Arial"/>
                <a:cs typeface="Arial"/>
              </a:rPr>
              <a:t>) los riesgos que se mencionan son los siguientes:</a:t>
            </a:r>
            <a:endParaRPr lang="es-ES">
              <a:latin typeface="Arial"/>
              <a:cs typeface="Arial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algn="just">
              <a:buNone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n 1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8B3A1B55-0399-C36B-9735-338103C9E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500" y="986425"/>
            <a:ext cx="7439001" cy="555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446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84B719-D7C4-87F7-9178-CA271C573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7ECDA2-5328-ABAF-1279-6C51BA1F4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46" y="138165"/>
            <a:ext cx="11877153" cy="65816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s-ES" sz="2400" dirty="0">
                <a:latin typeface="Arial"/>
                <a:cs typeface="Arial"/>
              </a:rPr>
              <a:t>Los criterios utilizados para evaluar y clasificar una vulnerabilidad dentro del Top Ten incluyen factores como prevalencia, impacto, </a:t>
            </a:r>
            <a:r>
              <a:rPr lang="es-ES" sz="2400" dirty="0" err="1">
                <a:latin typeface="Arial"/>
                <a:cs typeface="Arial"/>
              </a:rPr>
              <a:t>explotabilidad</a:t>
            </a:r>
            <a:r>
              <a:rPr lang="es-ES" sz="2400" dirty="0">
                <a:latin typeface="Arial"/>
                <a:cs typeface="Arial"/>
              </a:rPr>
              <a:t> y detectabilidad:</a:t>
            </a:r>
          </a:p>
          <a:p>
            <a:pPr algn="just"/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448515B-71D9-559B-557C-48ABDA8C4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783" y="1334214"/>
            <a:ext cx="10217078" cy="360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390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A2160-E662-A635-16E0-08BD080B5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DEFC62-CFAB-3DF4-BC47-5B1E229FE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257" y="331595"/>
            <a:ext cx="11585750" cy="6219929"/>
          </a:xfrm>
        </p:spPr>
        <p:txBody>
          <a:bodyPr>
            <a:normAutofit/>
          </a:bodyPr>
          <a:lstStyle/>
          <a:p>
            <a:br>
              <a:rPr lang="es-ES" sz="5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5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Gracias</a:t>
            </a:r>
            <a:b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CO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4711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8c5292c-6f85-4565-8ace-969dada78808}" enabled="0" method="" siteId="{98c5292c-6f85-4565-8ace-969dada7880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1156</Words>
  <Application>Microsoft Office PowerPoint</Application>
  <PresentationFormat>Panorámica</PresentationFormat>
  <Paragraphs>61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Tema de Office</vt:lpstr>
      <vt:lpstr>  OWASP    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  Gracias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rarodriguezc</dc:creator>
  <cp:lastModifiedBy>Richard Andersson Rodriguez Carvajal</cp:lastModifiedBy>
  <cp:revision>187</cp:revision>
  <dcterms:created xsi:type="dcterms:W3CDTF">2026-03-19T02:16:31Z</dcterms:created>
  <dcterms:modified xsi:type="dcterms:W3CDTF">2026-05-09T14:03:44Z</dcterms:modified>
</cp:coreProperties>
</file>