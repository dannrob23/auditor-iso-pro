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70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Aptos Narrow" panose="020B0004020202020204" pitchFamily="3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Medium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81045A-8CBB-43CE-A464-5125CBA7BE5D}">
  <a:tblStyle styleId="{2881045A-8CBB-43CE-A464-5125CBA7BE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D6BE610-F3E3-4C1A-B937-D3F1E658D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BDA7E67-9444-B9A0-DD03-1EEDBDD15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BAC9647-B297-8A65-A88B-CB3D699AA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1861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FD6F3890-8721-F8A8-63A9-316004E9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C1713266-2E91-6832-FF69-A3034E4096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B8602AC5-38CB-52BB-A5E9-CF029F586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747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25316" y="2369790"/>
            <a:ext cx="1094136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MITRE ATT&amp;CK: </a:t>
            </a: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ESTRATEGIA</a:t>
            </a:r>
            <a:r>
              <a:rPr lang="en-US" sz="2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Y COMPORTAMIENTO DEL ADVERSARIO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81162" y="2922240"/>
            <a:ext cx="88296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Especialización en Seguridad de la Información | Análisis de TTPs y la Pirámide del Dolor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43387" y="3992760"/>
            <a:ext cx="3705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Presentado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Jose David Vargas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¿QUÉ ES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MITRE ATT&amp;CK</a:t>
            </a: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1370647"/>
            <a:ext cx="52768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Adversarial Tactics, Techniques, and Common Knowledge (ATT&amp;CK)Es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base de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conocimiento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global de 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tácticas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técnicas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adversarios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basada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observaciones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mundo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real.</a:t>
            </a:r>
            <a:endParaRPr dirty="0"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69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2947987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Estándar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la Industria: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Lenguaje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común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defensores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25278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Foco 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Comportamiento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 se centra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qué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(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vulnerabilidad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),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cómo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(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acción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386238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Colaboración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Global: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Alimentada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comunidad de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ciberseguridad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00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051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147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8" y="3655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57425"/>
            <a:ext cx="52768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57425"/>
            <a:ext cx="52768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ENTENDIENDO LA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MATRIZ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49720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 </a:t>
            </a:r>
            <a:r>
              <a:rPr lang="en-US" sz="1500" b="0" i="1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jerarquía</a:t>
            </a: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se completa con Sub-</a:t>
            </a:r>
            <a:r>
              <a:rPr lang="en-US" sz="1500" b="0" i="1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técnicas</a:t>
            </a: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1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detalles</a:t>
            </a: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granulares</a:t>
            </a: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) y </a:t>
            </a:r>
            <a:r>
              <a:rPr lang="en-US" sz="1500" b="0" i="1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Procedimientos</a:t>
            </a: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1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implementaciones</a:t>
            </a:r>
            <a:r>
              <a:rPr lang="en-US" sz="1500" b="0" i="1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reales).</a:t>
            </a:r>
            <a:endParaRPr dirty="0"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76300" y="3124200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TÁCTICAS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590925"/>
            <a:ext cx="4686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Representan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"Por 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Qué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atacante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Son sus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objetivos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estratégicos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ej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r>
              <a:rPr lang="es-E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El atacante quiere mantener el acceso aunque se reinicie el servidor (Persistencia)).</a:t>
            </a:r>
            <a:endParaRPr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5527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629400" y="3124200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TÉCNICAS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68440" y="3465552"/>
            <a:ext cx="49815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Representan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n-US" sz="15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Cómo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Las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acciones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específicas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ejecutan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lograr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táctica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ej.</a:t>
            </a:r>
            <a:r>
              <a:rPr lang="es-E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lograr la Persistencia, el atacante crea una Tarea Programada.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6">
          <a:extLst>
            <a:ext uri="{FF2B5EF4-FFF2-40B4-BE49-F238E27FC236}">
              <a16:creationId xmlns:a16="http://schemas.microsoft.com/office/drawing/2014/main" id="{6638EAD5-C94F-DCF9-CADC-CAFB45BC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>
            <a:extLst>
              <a:ext uri="{FF2B5EF4-FFF2-40B4-BE49-F238E27FC236}">
                <a16:creationId xmlns:a16="http://schemas.microsoft.com/office/drawing/2014/main" id="{B58BA5C1-8E94-3C72-2BCF-87ABDAED4C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4" y="1309687"/>
            <a:ext cx="2943225" cy="145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1D7BE6C2-3C37-1639-EED4-A662E22A708F}"/>
              </a:ext>
            </a:extLst>
          </p:cNvPr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ENTENDIENDO LA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MATRIZ</a:t>
            </a:r>
            <a:endParaRPr/>
          </a:p>
        </p:txBody>
      </p:sp>
      <p:pic>
        <p:nvPicPr>
          <p:cNvPr id="112" name="Google Shape;112;p15" descr="image.png">
            <a:extLst>
              <a:ext uri="{FF2B5EF4-FFF2-40B4-BE49-F238E27FC236}">
                <a16:creationId xmlns:a16="http://schemas.microsoft.com/office/drawing/2014/main" id="{D750CC50-049A-F9C4-8933-A736C78814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300" y="15716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>
            <a:extLst>
              <a:ext uri="{FF2B5EF4-FFF2-40B4-BE49-F238E27FC236}">
                <a16:creationId xmlns:a16="http://schemas.microsoft.com/office/drawing/2014/main" id="{4E226F0A-3A38-7315-2D6C-B3027E0C021C}"/>
              </a:ext>
            </a:extLst>
          </p:cNvPr>
          <p:cNvSpPr txBox="1"/>
          <p:nvPr/>
        </p:nvSpPr>
        <p:spPr>
          <a:xfrm>
            <a:off x="876300" y="2047875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TÁCTICAS  EJEMPLOS</a:t>
            </a:r>
            <a:endParaRPr dirty="0"/>
          </a:p>
        </p:txBody>
      </p:sp>
      <p:pic>
        <p:nvPicPr>
          <p:cNvPr id="3" name="Google Shape;108;p15" descr="image.png">
            <a:extLst>
              <a:ext uri="{FF2B5EF4-FFF2-40B4-BE49-F238E27FC236}">
                <a16:creationId xmlns:a16="http://schemas.microsoft.com/office/drawing/2014/main" id="{0881B877-872D-2BD3-D870-CCD387C3EA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800" y="1309687"/>
            <a:ext cx="7219950" cy="50720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053C447-7E2C-BD17-B7AE-CEF5F2FAC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81070"/>
              </p:ext>
            </p:extLst>
          </p:nvPr>
        </p:nvGraphicFramePr>
        <p:xfrm>
          <a:off x="4143375" y="1582736"/>
          <a:ext cx="5772150" cy="45259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6689">
                  <a:extLst>
                    <a:ext uri="{9D8B030D-6E8A-4147-A177-3AD203B41FA5}">
                      <a16:colId xmlns:a16="http://schemas.microsoft.com/office/drawing/2014/main" val="629307634"/>
                    </a:ext>
                  </a:extLst>
                </a:gridCol>
                <a:gridCol w="3655461">
                  <a:extLst>
                    <a:ext uri="{9D8B030D-6E8A-4147-A177-3AD203B41FA5}">
                      <a16:colId xmlns:a16="http://schemas.microsoft.com/office/drawing/2014/main" val="3797345625"/>
                    </a:ext>
                  </a:extLst>
                </a:gridCol>
              </a:tblGrid>
              <a:tr h="282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b="1" u="none" strike="noStrike" dirty="0">
                          <a:effectLst/>
                        </a:rPr>
                        <a:t>Táctica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b="1" u="none" strike="noStrike" dirty="0">
                          <a:effectLst/>
                        </a:rPr>
                        <a:t>Qué busca el atacante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1356868512"/>
                  </a:ext>
                </a:extLst>
              </a:tr>
              <a:tr h="424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 err="1">
                          <a:effectLst/>
                        </a:rPr>
                        <a:t>Initial</a:t>
                      </a:r>
                      <a:r>
                        <a:rPr lang="es-CO" sz="800" u="none" strike="noStrike" dirty="0">
                          <a:effectLst/>
                        </a:rPr>
                        <a:t> Access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Entrar inicialmente a la red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3937806887"/>
                  </a:ext>
                </a:extLst>
              </a:tr>
              <a:tr h="424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 err="1">
                          <a:effectLst/>
                        </a:rPr>
                        <a:t>Execution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>
                          <a:effectLst/>
                        </a:rPr>
                        <a:t>Ejecutar código malicioso</a:t>
                      </a:r>
                      <a:endParaRPr lang="es-CO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464110515"/>
                  </a:ext>
                </a:extLst>
              </a:tr>
              <a:tr h="282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 err="1">
                          <a:effectLst/>
                        </a:rPr>
                        <a:t>Persistence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Mantener acceso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3867217246"/>
                  </a:ext>
                </a:extLst>
              </a:tr>
              <a:tr h="282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>
                          <a:effectLst/>
                        </a:rPr>
                        <a:t>Privilege Escalation</a:t>
                      </a:r>
                      <a:endParaRPr lang="es-CO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>
                          <a:effectLst/>
                        </a:rPr>
                        <a:t>Elevar privilegios</a:t>
                      </a:r>
                      <a:endParaRPr lang="es-CO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1550116892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Defense </a:t>
                      </a:r>
                      <a:r>
                        <a:rPr lang="es-CO" sz="800" u="none" strike="noStrike" dirty="0" err="1">
                          <a:effectLst/>
                        </a:rPr>
                        <a:t>Evasion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Evadir controles de seguridad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3771052183"/>
                  </a:ext>
                </a:extLst>
              </a:tr>
              <a:tr h="424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 err="1">
                          <a:effectLst/>
                        </a:rPr>
                        <a:t>Credential</a:t>
                      </a:r>
                      <a:r>
                        <a:rPr lang="es-CO" sz="800" u="none" strike="noStrike" dirty="0">
                          <a:effectLst/>
                        </a:rPr>
                        <a:t> Access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Robar credenciales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775914234"/>
                  </a:ext>
                </a:extLst>
              </a:tr>
              <a:tr h="424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>
                          <a:effectLst/>
                        </a:rPr>
                        <a:t>Discovery</a:t>
                      </a:r>
                      <a:endParaRPr lang="es-CO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Reconocer el entorno interno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3556341440"/>
                  </a:ext>
                </a:extLst>
              </a:tr>
              <a:tr h="424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Lateral </a:t>
                      </a:r>
                      <a:r>
                        <a:rPr lang="es-CO" sz="800" u="none" strike="noStrike" dirty="0" err="1">
                          <a:effectLst/>
                        </a:rPr>
                        <a:t>Movement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Moverse entre equipos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3473805939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 err="1">
                          <a:effectLst/>
                        </a:rPr>
                        <a:t>Command</a:t>
                      </a:r>
                      <a:r>
                        <a:rPr lang="es-CO" sz="800" u="none" strike="noStrike" dirty="0">
                          <a:effectLst/>
                        </a:rPr>
                        <a:t> and Control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Comunicarse con infraestructura externa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2031493563"/>
                  </a:ext>
                </a:extLst>
              </a:tr>
              <a:tr h="424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 err="1">
                          <a:effectLst/>
                        </a:rPr>
                        <a:t>Exfiltration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800" u="none" strike="noStrike" dirty="0">
                          <a:effectLst/>
                        </a:rPr>
                        <a:t>Extraer información</a:t>
                      </a:r>
                      <a:endParaRPr lang="es-CO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2" marR="7072" marT="7072" marB="0" anchor="ctr"/>
                </a:tc>
                <a:extLst>
                  <a:ext uri="{0D108BD9-81ED-4DB2-BD59-A6C34878D82A}">
                    <a16:rowId xmlns:a16="http://schemas.microsoft.com/office/drawing/2014/main" val="166050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0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62162"/>
            <a:ext cx="35495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062162"/>
            <a:ext cx="3549699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062162"/>
            <a:ext cx="35495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10037"/>
            <a:ext cx="35495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21075" y="4110037"/>
            <a:ext cx="3549699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61275" y="4110037"/>
            <a:ext cx="35495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LAS 14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TÁCTICAS</a:t>
            </a: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ENTERPRISE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76300" y="2357437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RECONOCIMIENTO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76300" y="2824162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Recopilar información para planificar.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16350" y="2357437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ACCESO INICIAL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16350" y="2824162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Entrar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red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objetivo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8356550" y="2357437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PERSISTENCIA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356550" y="2824162"/>
            <a:ext cx="295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Mantener el acceso en el tiempo.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76300" y="4405312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EVASIÓN DE DEFENSA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76300" y="4872037"/>
            <a:ext cx="295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Evitar ser detectado por el SOC.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16350" y="4405312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MOVIMIENTO LATERAL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16350" y="4872037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Moverse por el entorno interno.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56550" y="4405312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EXFILTRACIÓN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56550" y="4872037"/>
            <a:ext cx="295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Robar datos de interés.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>
          <a:extLst>
            <a:ext uri="{FF2B5EF4-FFF2-40B4-BE49-F238E27FC236}">
              <a16:creationId xmlns:a16="http://schemas.microsoft.com/office/drawing/2014/main" id="{681A6B04-E3E3-CBA0-4822-DC66BB40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4EE145D6-E51A-E42B-AC99-954276F4EEB1}"/>
              </a:ext>
            </a:extLst>
          </p:cNvPr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ANEXOS Y RECURSOS </a:t>
            </a:r>
            <a:r>
              <a:rPr lang="en-US" sz="375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OFICIALES</a:t>
            </a:r>
            <a:r>
              <a:rPr lang="en-US" sz="37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dirty="0"/>
          </a:p>
        </p:txBody>
      </p:sp>
      <p:pic>
        <p:nvPicPr>
          <p:cNvPr id="12" name="Google Shape;108;p15" descr="image.png">
            <a:extLst>
              <a:ext uri="{FF2B5EF4-FFF2-40B4-BE49-F238E27FC236}">
                <a16:creationId xmlns:a16="http://schemas.microsoft.com/office/drawing/2014/main" id="{01C660CC-A493-661A-1280-0E82F8D5A2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12058"/>
            <a:ext cx="5629275" cy="496969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A804A778-EA47-1C3C-7920-881AD93A6039}"/>
              </a:ext>
            </a:extLst>
          </p:cNvPr>
          <p:cNvSpPr txBox="1"/>
          <p:nvPr/>
        </p:nvSpPr>
        <p:spPr>
          <a:xfrm>
            <a:off x="642938" y="1793878"/>
            <a:ext cx="523875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Página Oficial de MITRE ATT&amp;CK</a:t>
            </a:r>
            <a:r>
              <a:rPr lang="es-ES" dirty="0">
                <a:solidFill>
                  <a:schemeClr val="bg1"/>
                </a:solidFill>
              </a:rPr>
              <a:t>: attack.mitre.org 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Matriz para Enterprise (Sistemas IT): </a:t>
            </a:r>
            <a:r>
              <a:rPr lang="es-ES" dirty="0">
                <a:solidFill>
                  <a:schemeClr val="bg1"/>
                </a:solidFill>
              </a:rPr>
              <a:t>Matrices - Enterprise (Es la más común, incluye Windows, Linux, Cloud).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Matriz para Sistemas de Control Industrial (ICS): </a:t>
            </a:r>
            <a:r>
              <a:rPr lang="es-ES" dirty="0">
                <a:solidFill>
                  <a:schemeClr val="bg1"/>
                </a:solidFill>
              </a:rPr>
              <a:t>Matrices - ICS (Vital si hablas de infraestructuras críticas).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16" name="Google Shape;108;p15" descr="image.png">
            <a:extLst>
              <a:ext uri="{FF2B5EF4-FFF2-40B4-BE49-F238E27FC236}">
                <a16:creationId xmlns:a16="http://schemas.microsoft.com/office/drawing/2014/main" id="{3310B39A-AE84-16D9-9D8F-7A8DD635D5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6075" y="1412058"/>
            <a:ext cx="5162550" cy="49696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DE62923-0FAD-D3A1-C8DE-4A059932E437}"/>
              </a:ext>
            </a:extLst>
          </p:cNvPr>
          <p:cNvSpPr txBox="1"/>
          <p:nvPr/>
        </p:nvSpPr>
        <p:spPr>
          <a:xfrm>
            <a:off x="7091361" y="1689103"/>
            <a:ext cx="4672013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Anexos Técnicos y Herramientas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500" dirty="0">
              <a:solidFill>
                <a:srgbClr val="DAFFDE"/>
              </a:solidFill>
              <a:latin typeface="Urbanist"/>
              <a:ea typeface="Urbanist"/>
              <a:cs typeface="Urbanis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ATT&amp;CK </a:t>
            </a:r>
            <a:r>
              <a:rPr lang="es-ES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Navigator</a:t>
            </a: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: </a:t>
            </a:r>
            <a:r>
              <a:rPr lang="es-ES" dirty="0">
                <a:solidFill>
                  <a:schemeClr val="bg1"/>
                </a:solidFill>
              </a:rPr>
              <a:t>https://mitre-attack.github.io/attack-navigator/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Uso: </a:t>
            </a:r>
            <a:r>
              <a:rPr lang="es-ES" dirty="0">
                <a:solidFill>
                  <a:schemeClr val="bg1"/>
                </a:solidFill>
              </a:rPr>
              <a:t>Es una herramienta interactiva para crear capas (</a:t>
            </a:r>
            <a:r>
              <a:rPr lang="es-ES" dirty="0" err="1">
                <a:solidFill>
                  <a:schemeClr val="bg1"/>
                </a:solidFill>
              </a:rPr>
              <a:t>layers</a:t>
            </a:r>
            <a:r>
              <a:rPr lang="es-ES" dirty="0">
                <a:solidFill>
                  <a:schemeClr val="bg1"/>
                </a:solidFill>
              </a:rPr>
              <a:t>) de visualización, ideal para mostrar tu cobertura de seguridad actual.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Grupos de Adversarios: </a:t>
            </a:r>
            <a:r>
              <a:rPr lang="es-ES" dirty="0">
                <a:solidFill>
                  <a:schemeClr val="bg1"/>
                </a:solidFill>
              </a:rPr>
              <a:t>https://attack.mitre.org/groups/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Uso: </a:t>
            </a:r>
            <a:r>
              <a:rPr lang="es-ES" dirty="0">
                <a:solidFill>
                  <a:schemeClr val="bg1"/>
                </a:solidFill>
              </a:rPr>
              <a:t>Listado de grupos (ej. APT41, Lazarus) y las técnicas que usan frecuentemente.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Mitigaciones Relacionadas: </a:t>
            </a:r>
            <a:r>
              <a:rPr lang="es-ES" dirty="0">
                <a:solidFill>
                  <a:schemeClr val="bg1"/>
                </a:solidFill>
              </a:rPr>
              <a:t>https://attack.mitre.org/mitigations/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Uso: </a:t>
            </a:r>
            <a:r>
              <a:rPr lang="es-ES" dirty="0">
                <a:solidFill>
                  <a:schemeClr val="bg1"/>
                </a:solidFill>
              </a:rPr>
              <a:t>Anexo fundamental que describe cómo prevenir cada técnica (ej. endurecimiento del SO, segmentación).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2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619750" y="256029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05276" y="288414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 PIRÁMIDE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DEL DOLOR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39890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Elevando el costo operativo del adversario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CONCEPTO DE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DAVID BIANCO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81025" y="1909762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Creada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2013, define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todos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indicadores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tienen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mismo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valor. La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efectividad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la defensa se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mide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cuánto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"dolor"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causamos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atacante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 romper sus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301466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clave: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Bloquear un IP es molesto; romper un TTP (Táctica, Técnica o Procedimiento) obliga al atacante a reinventarse.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19262"/>
            <a:ext cx="52768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COMPARATIVA DE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INDICADORES</a:t>
            </a:r>
            <a:endParaRPr/>
          </a:p>
        </p:txBody>
      </p:sp>
      <p:graphicFrame>
        <p:nvGraphicFramePr>
          <p:cNvPr id="165" name="Google Shape;165;p19"/>
          <p:cNvGraphicFramePr/>
          <p:nvPr>
            <p:extLst>
              <p:ext uri="{D42A27DB-BD31-4B8C-83A1-F6EECF244321}">
                <p14:modId xmlns:p14="http://schemas.microsoft.com/office/powerpoint/2010/main" val="2280453203"/>
              </p:ext>
            </p:extLst>
          </p:nvPr>
        </p:nvGraphicFramePr>
        <p:xfrm>
          <a:off x="581025" y="2462212"/>
          <a:ext cx="11029925" cy="2990875"/>
        </p:xfrm>
        <a:graphic>
          <a:graphicData uri="http://schemas.openxmlformats.org/drawingml/2006/table">
            <a:tbl>
              <a:tblPr firstRow="1" bandRow="1">
                <a:noFill/>
                <a:tableStyleId>{2881045A-8CBB-43CE-A464-5125CBA7BE5D}</a:tableStyleId>
              </a:tblPr>
              <a:tblGrid>
                <a:gridCol w="350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Nivel de Indicador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Dificultad para el Atacante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Valor para la Defensa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Valores Hash (SHA1, MD5)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Trivial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Bajo (Fácil de cambiar)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Direcciones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IP / 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Dominios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Simple / Fácil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Temporal 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Dinámicos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Herramientas (Tools)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Desafiante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Alto (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Requiere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re-</a:t>
                      </a: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desarrollo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TTPs (MITRE Focus)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Duro / Extremo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Máximo (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Estratégico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19"/>
          <p:cNvSpPr/>
          <p:nvPr/>
        </p:nvSpPr>
        <p:spPr>
          <a:xfrm>
            <a:off x="581025" y="3638550"/>
            <a:ext cx="35038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084885" y="3638550"/>
            <a:ext cx="37492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834163" y="3638550"/>
            <a:ext cx="377681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81025" y="4238625"/>
            <a:ext cx="35038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084885" y="4238625"/>
            <a:ext cx="37492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834163" y="4238625"/>
            <a:ext cx="377681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81025" y="4838700"/>
            <a:ext cx="35038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084885" y="4838700"/>
            <a:ext cx="37492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834163" y="4838700"/>
            <a:ext cx="377681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81025" y="5438775"/>
            <a:ext cx="35038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084885" y="5438775"/>
            <a:ext cx="374927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834163" y="5438775"/>
            <a:ext cx="377681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95550"/>
            <a:ext cx="35495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495550"/>
            <a:ext cx="354969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495550"/>
            <a:ext cx="35495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APLICACIÓN</a:t>
            </a:r>
            <a:endParaRPr dirty="0"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76300" y="33623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THREAT HUNTING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76300" y="3829050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Crear hipótesis de búsqueda basadas en técnicas específicas de grupos APT.</a:t>
            </a:r>
            <a:endParaRPr/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50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616350" y="3362325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GAP ANALYSIS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4616350" y="3829050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 qué técnicas no estamos detectando con nuestros Firewalls o EDRs.</a:t>
            </a:r>
            <a:endParaRPr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550" y="27908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8356550" y="33623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EMULACIÓN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356550" y="3829050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Simular comportamientos reales de adversarios para probar la resiliencia.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DATOS A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INTELIGENCIA</a:t>
            </a:r>
            <a:endParaRPr/>
          </a:p>
        </p:txBody>
      </p:sp>
      <p:pic>
        <p:nvPicPr>
          <p:cNvPr id="203" name="Google Shape;20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9669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334125" y="210978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Automatización: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Los niveles bajos (Hash, IPs) deben ser bloqueados automáticamente (SOAR).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34125" y="295751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Análisis Humano: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Los analistas deben enfocarse en los niveles superiores (TTPs).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34125" y="38052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Métricas de Valor: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Medir cuántas tácticas de MITRE cubrimos hoy vs el mes pasado.</a:t>
            </a:r>
            <a:endParaRPr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162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009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576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81025" y="581025"/>
            <a:ext cx="5190648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CASO: INFRAESTRUCTURA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ELECTORAL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81025" y="26098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 sistemas críticos, el mapeo de MITRE permite: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81025" y="51244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Pirámide del Dolor asegura que si un atacante cambia su IP, nuestra detección basada en su comportamiento (TTP) lo identifique de nuevo.</a:t>
            </a:r>
            <a:endParaRPr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23925" y="31051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62025" y="31051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Detectar intentos de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Acceso Inicial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 bases de datos de votación.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23925" y="37147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62025" y="37147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Movimiento Lateral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entre nodos de transmisión de resultados.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23925" y="43243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62025" y="43243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Bloquear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Exfiltración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datos censales mediante protocolos alternativos.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95550"/>
            <a:ext cx="35495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495550"/>
            <a:ext cx="354969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495550"/>
            <a:ext cx="35495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RECURSOS </a:t>
            </a: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OFICIALES</a:t>
            </a:r>
            <a:endParaRPr/>
          </a:p>
        </p:txBody>
      </p:sp>
      <p:pic>
        <p:nvPicPr>
          <p:cNvPr id="234" name="Google Shape;23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908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876300" y="33623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ATT&amp;CK NAVIGATOR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76300" y="3829050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Herramienta interactiva para mapear coberturas.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attack.mitre.org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50" y="27908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4616350" y="3362325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GRUPOS DE APT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616350" y="3829050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 de datos de actores y sus métodos favoritos.</a:t>
            </a:r>
            <a:endParaRPr/>
          </a:p>
        </p:txBody>
      </p:sp>
      <p:pic>
        <p:nvPicPr>
          <p:cNvPr id="240" name="Google Shape;240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550" y="27908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8356550" y="33623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MITIGACIONES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356550" y="382905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Guía oficial para endurecer sistemas frente a cada técnica.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3365658" y="1752600"/>
            <a:ext cx="546068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624262" y="2857500"/>
            <a:ext cx="49434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"No detectes archivos, detecta comportamientos."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3829050" y="4213770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835</Words>
  <Application>Microsoft Office PowerPoint</Application>
  <PresentationFormat>Panorámica</PresentationFormat>
  <Paragraphs>122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 Narrow</vt:lpstr>
      <vt:lpstr>Calibri</vt:lpstr>
      <vt:lpstr>Urbanist Medium</vt:lpstr>
      <vt:lpstr>Arial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David Avella Silva</cp:lastModifiedBy>
  <cp:revision>5</cp:revision>
  <dcterms:modified xsi:type="dcterms:W3CDTF">2026-05-09T16:06:19Z</dcterms:modified>
</cp:coreProperties>
</file>